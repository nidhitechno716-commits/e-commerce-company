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1"/>
  </p:notesMasterIdLst>
  <p:sldIdLst>
    <p:sldId id="256" r:id="rId2"/>
    <p:sldId id="282" r:id="rId3"/>
    <p:sldId id="257" r:id="rId4"/>
    <p:sldId id="303" r:id="rId5"/>
    <p:sldId id="301" r:id="rId6"/>
    <p:sldId id="259" r:id="rId7"/>
    <p:sldId id="304" r:id="rId8"/>
    <p:sldId id="305" r:id="rId9"/>
    <p:sldId id="306" r:id="rId10"/>
    <p:sldId id="307" r:id="rId11"/>
    <p:sldId id="308" r:id="rId12"/>
    <p:sldId id="309" r:id="rId13"/>
    <p:sldId id="310" r:id="rId14"/>
    <p:sldId id="316" r:id="rId15"/>
    <p:sldId id="311" r:id="rId16"/>
    <p:sldId id="312" r:id="rId17"/>
    <p:sldId id="313" r:id="rId18"/>
    <p:sldId id="314" r:id="rId19"/>
    <p:sldId id="315" r:id="rId20"/>
  </p:sldIdLst>
  <p:sldSz cx="9144000" cy="5143500" type="screen16x9"/>
  <p:notesSz cx="6858000" cy="9144000"/>
  <p:embeddedFontLst>
    <p:embeddedFont>
      <p:font typeface="Open Sans" panose="020B0604020202020204" charset="0"/>
      <p:regular r:id="rId22"/>
      <p:bold r:id="rId23"/>
      <p:italic r:id="rId24"/>
      <p:boldItalic r:id="rId25"/>
    </p:embeddedFont>
    <p:embeddedFont>
      <p:font typeface="Lobster Two" panose="020B0604020202020204" charset="0"/>
      <p:regular r:id="rId26"/>
      <p:bold r:id="rId27"/>
      <p:italic r:id="rId28"/>
      <p:boldItalic r:id="rId29"/>
    </p:embeddedFont>
    <p:embeddedFont>
      <p:font typeface="Calibri" panose="020F0502020204030204" pitchFamily="34" charset="0"/>
      <p:regular r:id="rId30"/>
      <p:bold r:id="rId31"/>
      <p:italic r:id="rId32"/>
      <p:boldItalic r:id="rId33"/>
    </p:embeddedFont>
    <p:embeddedFont>
      <p:font typeface="Montserrat"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98">
          <p15:clr>
            <a:srgbClr val="0000FF"/>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5CA931-35F7-4731-802F-4FB9E3B8D07F}">
  <a:tblStyle styleId="{9C5CA931-35F7-4731-802F-4FB9E3B8D07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B0175BB-A153-474A-BDE1-045C4002B53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654" y="114"/>
      </p:cViewPr>
      <p:guideLst>
        <p:guide orient="horz" pos="49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6e0c96cd4e_3_31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6e0c96cd4e_3_31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6"/>
        <p:cNvGrpSpPr/>
        <p:nvPr/>
      </p:nvGrpSpPr>
      <p:grpSpPr>
        <a:xfrm>
          <a:off x="0" y="0"/>
          <a:ext cx="0" cy="0"/>
          <a:chOff x="0" y="0"/>
          <a:chExt cx="0" cy="0"/>
        </a:xfrm>
      </p:grpSpPr>
      <p:sp>
        <p:nvSpPr>
          <p:cNvPr id="3367" name="Google Shape;3367;g6e24d6f1cb_3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8" name="Google Shape;3368;g6e24d6f1cb_3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6dfe394226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6dfe394226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6dfe394226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6dfe394226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2072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6dfe39422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6dfe39422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6"/>
        <p:cNvGrpSpPr/>
        <p:nvPr/>
      </p:nvGrpSpPr>
      <p:grpSpPr>
        <a:xfrm>
          <a:off x="0" y="0"/>
          <a:ext cx="0" cy="0"/>
          <a:chOff x="0" y="0"/>
          <a:chExt cx="0" cy="0"/>
        </a:xfrm>
      </p:grpSpPr>
      <p:sp>
        <p:nvSpPr>
          <p:cNvPr id="3367" name="Google Shape;3367;g6e24d6f1cb_3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8" name="Google Shape;3368;g6e24d6f1cb_3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7134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6dfe394226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6dfe394226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9526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1481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30737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5595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02972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18649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4375" y="542925"/>
            <a:ext cx="4457700" cy="2705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6000"/>
              <a:buNone/>
              <a:defRPr sz="4500" b="1">
                <a:solidFill>
                  <a:schemeClr val="lt1"/>
                </a:solidFill>
                <a:latin typeface="Montserrat"/>
                <a:ea typeface="Montserrat"/>
                <a:cs typeface="Montserrat"/>
                <a:sym typeface="Montserrat"/>
              </a:defRPr>
            </a:lvl1pPr>
            <a:lvl2pPr lvl="1" rtl="0">
              <a:spcBef>
                <a:spcPts val="0"/>
              </a:spcBef>
              <a:spcAft>
                <a:spcPts val="0"/>
              </a:spcAft>
              <a:buClr>
                <a:srgbClr val="434343"/>
              </a:buClr>
              <a:buSzPts val="5200"/>
              <a:buNone/>
              <a:defRPr sz="5200">
                <a:solidFill>
                  <a:srgbClr val="434343"/>
                </a:solidFill>
              </a:defRPr>
            </a:lvl2pPr>
            <a:lvl3pPr lvl="2" rtl="0">
              <a:spcBef>
                <a:spcPts val="0"/>
              </a:spcBef>
              <a:spcAft>
                <a:spcPts val="0"/>
              </a:spcAft>
              <a:buClr>
                <a:srgbClr val="434343"/>
              </a:buClr>
              <a:buSzPts val="5200"/>
              <a:buNone/>
              <a:defRPr sz="5200">
                <a:solidFill>
                  <a:srgbClr val="434343"/>
                </a:solidFill>
              </a:defRPr>
            </a:lvl3pPr>
            <a:lvl4pPr lvl="3" rtl="0">
              <a:spcBef>
                <a:spcPts val="0"/>
              </a:spcBef>
              <a:spcAft>
                <a:spcPts val="0"/>
              </a:spcAft>
              <a:buClr>
                <a:srgbClr val="434343"/>
              </a:buClr>
              <a:buSzPts val="5200"/>
              <a:buNone/>
              <a:defRPr sz="5200">
                <a:solidFill>
                  <a:srgbClr val="434343"/>
                </a:solidFill>
              </a:defRPr>
            </a:lvl4pPr>
            <a:lvl5pPr lvl="4" rtl="0">
              <a:spcBef>
                <a:spcPts val="0"/>
              </a:spcBef>
              <a:spcAft>
                <a:spcPts val="0"/>
              </a:spcAft>
              <a:buClr>
                <a:srgbClr val="434343"/>
              </a:buClr>
              <a:buSzPts val="5200"/>
              <a:buNone/>
              <a:defRPr sz="5200">
                <a:solidFill>
                  <a:srgbClr val="434343"/>
                </a:solidFill>
              </a:defRPr>
            </a:lvl5pPr>
            <a:lvl6pPr lvl="5" rtl="0">
              <a:spcBef>
                <a:spcPts val="0"/>
              </a:spcBef>
              <a:spcAft>
                <a:spcPts val="0"/>
              </a:spcAft>
              <a:buClr>
                <a:srgbClr val="434343"/>
              </a:buClr>
              <a:buSzPts val="5200"/>
              <a:buNone/>
              <a:defRPr sz="5200">
                <a:solidFill>
                  <a:srgbClr val="434343"/>
                </a:solidFill>
              </a:defRPr>
            </a:lvl6pPr>
            <a:lvl7pPr lvl="6" rtl="0">
              <a:spcBef>
                <a:spcPts val="0"/>
              </a:spcBef>
              <a:spcAft>
                <a:spcPts val="0"/>
              </a:spcAft>
              <a:buClr>
                <a:srgbClr val="434343"/>
              </a:buClr>
              <a:buSzPts val="5200"/>
              <a:buNone/>
              <a:defRPr sz="5200">
                <a:solidFill>
                  <a:srgbClr val="434343"/>
                </a:solidFill>
              </a:defRPr>
            </a:lvl7pPr>
            <a:lvl8pPr lvl="7" rtl="0">
              <a:spcBef>
                <a:spcPts val="0"/>
              </a:spcBef>
              <a:spcAft>
                <a:spcPts val="0"/>
              </a:spcAft>
              <a:buClr>
                <a:srgbClr val="434343"/>
              </a:buClr>
              <a:buSzPts val="5200"/>
              <a:buNone/>
              <a:defRPr sz="5200">
                <a:solidFill>
                  <a:srgbClr val="434343"/>
                </a:solidFill>
              </a:defRPr>
            </a:lvl8pPr>
            <a:lvl9pPr lvl="8" rtl="0">
              <a:spcBef>
                <a:spcPts val="0"/>
              </a:spcBef>
              <a:spcAft>
                <a:spcPts val="0"/>
              </a:spcAft>
              <a:buClr>
                <a:srgbClr val="434343"/>
              </a:buClr>
              <a:buSzPts val="5200"/>
              <a:buNone/>
              <a:defRPr sz="5200">
                <a:solidFill>
                  <a:srgbClr val="434343"/>
                </a:solidFill>
              </a:defRPr>
            </a:lvl9pPr>
          </a:lstStyle>
          <a:p>
            <a:endParaRPr/>
          </a:p>
        </p:txBody>
      </p:sp>
      <p:sp>
        <p:nvSpPr>
          <p:cNvPr id="10" name="Google Shape;10;p2"/>
          <p:cNvSpPr txBox="1">
            <a:spLocks noGrp="1"/>
          </p:cNvSpPr>
          <p:nvPr>
            <p:ph type="subTitle" idx="1"/>
          </p:nvPr>
        </p:nvSpPr>
        <p:spPr>
          <a:xfrm>
            <a:off x="714375" y="3442500"/>
            <a:ext cx="2209800" cy="481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000000"/>
              </a:buClr>
              <a:buSzPts val="1800"/>
              <a:buNone/>
              <a:defRPr sz="1600">
                <a:solidFill>
                  <a:schemeClr val="accent1"/>
                </a:solidFill>
              </a:defRPr>
            </a:lvl1pPr>
            <a:lvl2pPr lvl="1" algn="r" rtl="0">
              <a:lnSpc>
                <a:spcPct val="100000"/>
              </a:lnSpc>
              <a:spcBef>
                <a:spcPts val="0"/>
              </a:spcBef>
              <a:spcAft>
                <a:spcPts val="0"/>
              </a:spcAft>
              <a:buClr>
                <a:srgbClr val="434343"/>
              </a:buClr>
              <a:buSzPts val="2800"/>
              <a:buNone/>
              <a:defRPr sz="2800">
                <a:solidFill>
                  <a:srgbClr val="434343"/>
                </a:solidFill>
              </a:defRPr>
            </a:lvl2pPr>
            <a:lvl3pPr lvl="2" algn="r" rtl="0">
              <a:lnSpc>
                <a:spcPct val="100000"/>
              </a:lnSpc>
              <a:spcBef>
                <a:spcPts val="0"/>
              </a:spcBef>
              <a:spcAft>
                <a:spcPts val="0"/>
              </a:spcAft>
              <a:buClr>
                <a:srgbClr val="434343"/>
              </a:buClr>
              <a:buSzPts val="2800"/>
              <a:buNone/>
              <a:defRPr sz="2800">
                <a:solidFill>
                  <a:srgbClr val="434343"/>
                </a:solidFill>
              </a:defRPr>
            </a:lvl3pPr>
            <a:lvl4pPr lvl="3" algn="r" rtl="0">
              <a:lnSpc>
                <a:spcPct val="100000"/>
              </a:lnSpc>
              <a:spcBef>
                <a:spcPts val="0"/>
              </a:spcBef>
              <a:spcAft>
                <a:spcPts val="0"/>
              </a:spcAft>
              <a:buClr>
                <a:srgbClr val="434343"/>
              </a:buClr>
              <a:buSzPts val="2800"/>
              <a:buNone/>
              <a:defRPr sz="2800">
                <a:solidFill>
                  <a:srgbClr val="434343"/>
                </a:solidFill>
              </a:defRPr>
            </a:lvl4pPr>
            <a:lvl5pPr lvl="4" algn="r" rtl="0">
              <a:lnSpc>
                <a:spcPct val="100000"/>
              </a:lnSpc>
              <a:spcBef>
                <a:spcPts val="0"/>
              </a:spcBef>
              <a:spcAft>
                <a:spcPts val="0"/>
              </a:spcAft>
              <a:buClr>
                <a:srgbClr val="434343"/>
              </a:buClr>
              <a:buSzPts val="2800"/>
              <a:buNone/>
              <a:defRPr sz="2800">
                <a:solidFill>
                  <a:srgbClr val="434343"/>
                </a:solidFill>
              </a:defRPr>
            </a:lvl5pPr>
            <a:lvl6pPr lvl="5" algn="r" rtl="0">
              <a:lnSpc>
                <a:spcPct val="100000"/>
              </a:lnSpc>
              <a:spcBef>
                <a:spcPts val="0"/>
              </a:spcBef>
              <a:spcAft>
                <a:spcPts val="0"/>
              </a:spcAft>
              <a:buClr>
                <a:srgbClr val="434343"/>
              </a:buClr>
              <a:buSzPts val="2800"/>
              <a:buNone/>
              <a:defRPr sz="2800">
                <a:solidFill>
                  <a:srgbClr val="434343"/>
                </a:solidFill>
              </a:defRPr>
            </a:lvl6pPr>
            <a:lvl7pPr lvl="6" algn="r" rtl="0">
              <a:lnSpc>
                <a:spcPct val="100000"/>
              </a:lnSpc>
              <a:spcBef>
                <a:spcPts val="0"/>
              </a:spcBef>
              <a:spcAft>
                <a:spcPts val="0"/>
              </a:spcAft>
              <a:buClr>
                <a:srgbClr val="434343"/>
              </a:buClr>
              <a:buSzPts val="2800"/>
              <a:buNone/>
              <a:defRPr sz="2800">
                <a:solidFill>
                  <a:srgbClr val="434343"/>
                </a:solidFill>
              </a:defRPr>
            </a:lvl7pPr>
            <a:lvl8pPr lvl="7" algn="r" rtl="0">
              <a:lnSpc>
                <a:spcPct val="100000"/>
              </a:lnSpc>
              <a:spcBef>
                <a:spcPts val="0"/>
              </a:spcBef>
              <a:spcAft>
                <a:spcPts val="0"/>
              </a:spcAft>
              <a:buClr>
                <a:srgbClr val="434343"/>
              </a:buClr>
              <a:buSzPts val="2800"/>
              <a:buNone/>
              <a:defRPr sz="2800">
                <a:solidFill>
                  <a:srgbClr val="434343"/>
                </a:solidFill>
              </a:defRPr>
            </a:lvl8pPr>
            <a:lvl9pPr lvl="8" algn="r" rtl="0">
              <a:lnSpc>
                <a:spcPct val="100000"/>
              </a:lnSpc>
              <a:spcBef>
                <a:spcPts val="0"/>
              </a:spcBef>
              <a:spcAft>
                <a:spcPts val="0"/>
              </a:spcAft>
              <a:buClr>
                <a:srgbClr val="434343"/>
              </a:buClr>
              <a:buSzPts val="2800"/>
              <a:buNone/>
              <a:defRPr sz="2800">
                <a:solidFill>
                  <a:srgbClr val="434343"/>
                </a:solidFill>
              </a:defRPr>
            </a:lvl9pPr>
          </a:lstStyle>
          <a:p>
            <a:endParaRPr/>
          </a:p>
        </p:txBody>
      </p:sp>
      <p:grpSp>
        <p:nvGrpSpPr>
          <p:cNvPr id="11" name="Google Shape;11;p2"/>
          <p:cNvGrpSpPr/>
          <p:nvPr/>
        </p:nvGrpSpPr>
        <p:grpSpPr>
          <a:xfrm>
            <a:off x="4086395" y="555527"/>
            <a:ext cx="5057962" cy="4588163"/>
            <a:chOff x="4086395" y="555527"/>
            <a:chExt cx="5057962" cy="4588163"/>
          </a:xfrm>
        </p:grpSpPr>
        <p:sp>
          <p:nvSpPr>
            <p:cNvPr id="12" name="Google Shape;12;p2"/>
            <p:cNvSpPr/>
            <p:nvPr/>
          </p:nvSpPr>
          <p:spPr>
            <a:xfrm>
              <a:off x="4143642" y="658960"/>
              <a:ext cx="5000715" cy="4484731"/>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086395" y="555527"/>
              <a:ext cx="5057960" cy="4588160"/>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p:nvPr/>
        </p:nvSpPr>
        <p:spPr>
          <a:xfrm rot="10800000">
            <a:off x="-20" y="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
        <p:nvSpPr>
          <p:cNvPr id="15" name="Google Shape;15;p2"/>
          <p:cNvSpPr/>
          <p:nvPr/>
        </p:nvSpPr>
        <p:spPr>
          <a:xfrm>
            <a:off x="7981917" y="44827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ctrTitle"/>
          </p:nvPr>
        </p:nvSpPr>
        <p:spPr>
          <a:xfrm>
            <a:off x="714375" y="2103000"/>
            <a:ext cx="2324100" cy="4572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800"/>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32" name="Google Shape;32;p4"/>
          <p:cNvSpPr txBox="1">
            <a:spLocks noGrp="1"/>
          </p:cNvSpPr>
          <p:nvPr>
            <p:ph type="subTitle" idx="1"/>
          </p:nvPr>
        </p:nvSpPr>
        <p:spPr>
          <a:xfrm>
            <a:off x="714375" y="2674500"/>
            <a:ext cx="2483400" cy="36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33" name="Google Shape;33;p4"/>
          <p:cNvGrpSpPr/>
          <p:nvPr/>
        </p:nvGrpSpPr>
        <p:grpSpPr>
          <a:xfrm>
            <a:off x="3133537" y="-308699"/>
            <a:ext cx="6010422" cy="5452155"/>
            <a:chOff x="3133537" y="-308699"/>
            <a:chExt cx="6010422" cy="5452155"/>
          </a:xfrm>
        </p:grpSpPr>
        <p:sp>
          <p:nvSpPr>
            <p:cNvPr id="34" name="Google Shape;34;p4"/>
            <p:cNvSpPr/>
            <p:nvPr/>
          </p:nvSpPr>
          <p:spPr>
            <a:xfrm>
              <a:off x="3201565" y="-185790"/>
              <a:ext cx="5942394" cy="5329246"/>
            </a:xfrm>
            <a:custGeom>
              <a:avLst/>
              <a:gdLst/>
              <a:ahLst/>
              <a:cxnLst/>
              <a:rect l="l" t="t" r="r" b="b"/>
              <a:pathLst>
                <a:path w="90413" h="81084" extrusionOk="0">
                  <a:moveTo>
                    <a:pt x="90412" y="1"/>
                  </a:moveTo>
                  <a:lnTo>
                    <a:pt x="3084" y="50747"/>
                  </a:lnTo>
                  <a:cubicBezTo>
                    <a:pt x="1293" y="51801"/>
                    <a:pt x="239" y="51702"/>
                    <a:pt x="0" y="53075"/>
                  </a:cubicBezTo>
                  <a:lnTo>
                    <a:pt x="0" y="55104"/>
                  </a:lnTo>
                  <a:cubicBezTo>
                    <a:pt x="20" y="56675"/>
                    <a:pt x="1055" y="58247"/>
                    <a:pt x="3123" y="59440"/>
                  </a:cubicBezTo>
                  <a:lnTo>
                    <a:pt x="40641" y="81083"/>
                  </a:lnTo>
                  <a:lnTo>
                    <a:pt x="88642" y="81083"/>
                  </a:lnTo>
                  <a:cubicBezTo>
                    <a:pt x="89617" y="81083"/>
                    <a:pt x="90412" y="80288"/>
                    <a:pt x="90412" y="79313"/>
                  </a:cubicBezTo>
                  <a:lnTo>
                    <a:pt x="904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3133537" y="-308699"/>
              <a:ext cx="6010420" cy="5452152"/>
            </a:xfrm>
            <a:custGeom>
              <a:avLst/>
              <a:gdLst/>
              <a:ahLst/>
              <a:cxnLst/>
              <a:rect l="l" t="t" r="r" b="b"/>
              <a:pathLst>
                <a:path w="91448" h="82954" extrusionOk="0">
                  <a:moveTo>
                    <a:pt x="91447" y="1"/>
                  </a:moveTo>
                  <a:lnTo>
                    <a:pt x="4119" y="50767"/>
                  </a:lnTo>
                  <a:cubicBezTo>
                    <a:pt x="1" y="53154"/>
                    <a:pt x="21" y="57033"/>
                    <a:pt x="4158" y="59440"/>
                  </a:cubicBezTo>
                  <a:lnTo>
                    <a:pt x="44899" y="82953"/>
                  </a:lnTo>
                  <a:lnTo>
                    <a:pt x="89677" y="82953"/>
                  </a:lnTo>
                  <a:cubicBezTo>
                    <a:pt x="90652" y="82953"/>
                    <a:pt x="91447" y="82158"/>
                    <a:pt x="91447" y="81183"/>
                  </a:cubicBezTo>
                  <a:lnTo>
                    <a:pt x="914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4"/>
          <p:cNvSpPr/>
          <p:nvPr/>
        </p:nvSpPr>
        <p:spPr>
          <a:xfrm rot="10800000">
            <a:off x="-20" y="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
        <p:nvSpPr>
          <p:cNvPr id="37" name="Google Shape;37;p4"/>
          <p:cNvSpPr/>
          <p:nvPr/>
        </p:nvSpPr>
        <p:spPr>
          <a:xfrm>
            <a:off x="7981917" y="44827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9" name="Google Shape;6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0" name="Google Shape;7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list">
  <p:cSld name="ONE_COLUMN_TEXT_1">
    <p:bg>
      <p:bgPr>
        <a:solidFill>
          <a:schemeClr val="lt2"/>
        </a:solidFill>
        <a:effectLst/>
      </p:bgPr>
    </p:bg>
    <p:spTree>
      <p:nvGrpSpPr>
        <p:cNvPr id="1" name="Shape 181"/>
        <p:cNvGrpSpPr/>
        <p:nvPr/>
      </p:nvGrpSpPr>
      <p:grpSpPr>
        <a:xfrm>
          <a:off x="0" y="0"/>
          <a:ext cx="0" cy="0"/>
          <a:chOff x="0" y="0"/>
          <a:chExt cx="0" cy="0"/>
        </a:xfrm>
      </p:grpSpPr>
      <p:sp>
        <p:nvSpPr>
          <p:cNvPr id="182" name="Google Shape;182;p20"/>
          <p:cNvSpPr txBox="1">
            <a:spLocks noGrp="1"/>
          </p:cNvSpPr>
          <p:nvPr>
            <p:ph type="title"/>
          </p:nvPr>
        </p:nvSpPr>
        <p:spPr>
          <a:xfrm>
            <a:off x="697350" y="431775"/>
            <a:ext cx="77322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800" b="1">
                <a:latin typeface="Montserrat"/>
                <a:ea typeface="Montserrat"/>
                <a:cs typeface="Montserrat"/>
                <a:sym typeface="Montserrat"/>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83" name="Google Shape;183;p20"/>
          <p:cNvSpPr txBox="1">
            <a:spLocks noGrp="1"/>
          </p:cNvSpPr>
          <p:nvPr>
            <p:ph type="body" idx="1"/>
          </p:nvPr>
        </p:nvSpPr>
        <p:spPr>
          <a:xfrm>
            <a:off x="714375" y="987391"/>
            <a:ext cx="7732200" cy="3362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Font typeface="Livvic"/>
              <a:buChar char="●"/>
              <a:defRPr sz="1300">
                <a:solidFill>
                  <a:schemeClr val="dk1"/>
                </a:solidFill>
                <a:latin typeface="Open Sans"/>
                <a:ea typeface="Open Sans"/>
                <a:cs typeface="Open Sans"/>
                <a:sym typeface="Open Sans"/>
              </a:defRPr>
            </a:lvl1pPr>
            <a:lvl2pPr marL="914400" lvl="1" indent="-304800" rtl="0">
              <a:spcBef>
                <a:spcPts val="1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2pPr>
            <a:lvl3pPr marL="1371600" lvl="2" indent="-304800" rtl="0">
              <a:spcBef>
                <a:spcPts val="16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3pPr>
            <a:lvl4pPr marL="1828800" lvl="3" indent="-304800" rtl="0">
              <a:spcBef>
                <a:spcPts val="16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4pPr>
            <a:lvl5pPr marL="2286000" lvl="4" indent="-304800" rtl="0">
              <a:spcBef>
                <a:spcPts val="16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5pPr>
            <a:lvl6pPr marL="2743200" lvl="5" indent="-304800" rtl="0">
              <a:spcBef>
                <a:spcPts val="16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6pPr>
            <a:lvl7pPr marL="3200400" lvl="6" indent="-304800" rtl="0">
              <a:spcBef>
                <a:spcPts val="16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7pPr>
            <a:lvl8pPr marL="3657600" lvl="7" indent="-304800" rtl="0">
              <a:spcBef>
                <a:spcPts val="1600"/>
              </a:spcBef>
              <a:spcAft>
                <a:spcPts val="0"/>
              </a:spcAft>
              <a:buClr>
                <a:schemeClr val="lt2"/>
              </a:buClr>
              <a:buSzPts val="1200"/>
              <a:buFont typeface="Roboto Condensed Light"/>
              <a:buChar char="○"/>
              <a:defRPr>
                <a:solidFill>
                  <a:schemeClr val="dk1"/>
                </a:solidFill>
                <a:latin typeface="Open Sans"/>
                <a:ea typeface="Open Sans"/>
                <a:cs typeface="Open Sans"/>
                <a:sym typeface="Open Sans"/>
              </a:defRPr>
            </a:lvl8pPr>
            <a:lvl9pPr marL="4114800" lvl="8" indent="-304800" rtl="0">
              <a:spcBef>
                <a:spcPts val="1600"/>
              </a:spcBef>
              <a:spcAft>
                <a:spcPts val="1600"/>
              </a:spcAft>
              <a:buClr>
                <a:schemeClr val="lt2"/>
              </a:buClr>
              <a:buSzPts val="1200"/>
              <a:buFont typeface="Roboto Condensed Light"/>
              <a:buChar char="■"/>
              <a:defRPr>
                <a:solidFill>
                  <a:schemeClr val="dk1"/>
                </a:solidFill>
                <a:latin typeface="Open Sans"/>
                <a:ea typeface="Open Sans"/>
                <a:cs typeface="Open Sans"/>
                <a:sym typeface="Open Sans"/>
              </a:defRPr>
            </a:lvl9pPr>
          </a:lstStyle>
          <a:p>
            <a:endParaRPr/>
          </a:p>
        </p:txBody>
      </p:sp>
      <p:sp>
        <p:nvSpPr>
          <p:cNvPr id="184" name="Google Shape;184;p20"/>
          <p:cNvSpPr/>
          <p:nvPr/>
        </p:nvSpPr>
        <p:spPr>
          <a:xfrm rot="10800000" flipH="1">
            <a:off x="7981930" y="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
        <p:nvSpPr>
          <p:cNvPr id="185" name="Google Shape;185;p20"/>
          <p:cNvSpPr/>
          <p:nvPr/>
        </p:nvSpPr>
        <p:spPr>
          <a:xfrm flipH="1">
            <a:off x="-20" y="4482718"/>
            <a:ext cx="1162071" cy="660785"/>
          </a:xfrm>
          <a:custGeom>
            <a:avLst/>
            <a:gdLst/>
            <a:ahLst/>
            <a:cxnLst/>
            <a:rect l="l" t="t" r="r" b="b"/>
            <a:pathLst>
              <a:path w="116586" h="66294" extrusionOk="0">
                <a:moveTo>
                  <a:pt x="116586" y="0"/>
                </a:moveTo>
                <a:lnTo>
                  <a:pt x="0" y="66294"/>
                </a:lnTo>
                <a:lnTo>
                  <a:pt x="116586" y="66294"/>
                </a:lnTo>
                <a:close/>
              </a:path>
            </a:pathLst>
          </a:custGeom>
          <a:solidFill>
            <a:schemeClr val="dk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sources">
  <p:cSld name="ONE_COLUMN_TEXT_1_1">
    <p:spTree>
      <p:nvGrpSpPr>
        <p:cNvPr id="1" name="Shape 186"/>
        <p:cNvGrpSpPr/>
        <p:nvPr/>
      </p:nvGrpSpPr>
      <p:grpSpPr>
        <a:xfrm>
          <a:off x="0" y="0"/>
          <a:ext cx="0" cy="0"/>
          <a:chOff x="0" y="0"/>
          <a:chExt cx="0" cy="0"/>
        </a:xfrm>
      </p:grpSpPr>
      <p:sp>
        <p:nvSpPr>
          <p:cNvPr id="187" name="Google Shape;187;p21"/>
          <p:cNvSpPr/>
          <p:nvPr/>
        </p:nvSpPr>
        <p:spPr>
          <a:xfrm rot="10800000">
            <a:off x="-20" y="18"/>
            <a:ext cx="1162071" cy="660785"/>
          </a:xfrm>
          <a:custGeom>
            <a:avLst/>
            <a:gdLst/>
            <a:ahLst/>
            <a:cxnLst/>
            <a:rect l="l" t="t" r="r" b="b"/>
            <a:pathLst>
              <a:path w="116586" h="66294" extrusionOk="0">
                <a:moveTo>
                  <a:pt x="116586" y="0"/>
                </a:moveTo>
                <a:lnTo>
                  <a:pt x="0" y="66294"/>
                </a:lnTo>
                <a:lnTo>
                  <a:pt x="116586" y="66294"/>
                </a:lnTo>
                <a:close/>
              </a:path>
            </a:pathLst>
          </a:custGeom>
          <a:solidFill>
            <a:schemeClr val="accent1"/>
          </a:solidFill>
          <a:ln>
            <a:noFill/>
          </a:ln>
        </p:spPr>
      </p:sp>
      <p:sp>
        <p:nvSpPr>
          <p:cNvPr id="188" name="Google Shape;188;p21"/>
          <p:cNvSpPr/>
          <p:nvPr/>
        </p:nvSpPr>
        <p:spPr>
          <a:xfrm>
            <a:off x="7981930" y="4482718"/>
            <a:ext cx="1162071" cy="660785"/>
          </a:xfrm>
          <a:custGeom>
            <a:avLst/>
            <a:gdLst/>
            <a:ahLst/>
            <a:cxnLst/>
            <a:rect l="l" t="t" r="r" b="b"/>
            <a:pathLst>
              <a:path w="116586" h="66294" extrusionOk="0">
                <a:moveTo>
                  <a:pt x="116586" y="0"/>
                </a:moveTo>
                <a:lnTo>
                  <a:pt x="0" y="66294"/>
                </a:lnTo>
                <a:lnTo>
                  <a:pt x="116586" y="66294"/>
                </a:lnTo>
                <a:close/>
              </a:path>
            </a:pathLst>
          </a:custGeom>
          <a:solidFill>
            <a:schemeClr val="lt1"/>
          </a:solidFill>
          <a:ln>
            <a:noFill/>
          </a:ln>
        </p:spPr>
      </p:sp>
      <p:sp>
        <p:nvSpPr>
          <p:cNvPr id="189" name="Google Shape;189;p21"/>
          <p:cNvSpPr txBox="1">
            <a:spLocks noGrp="1"/>
          </p:cNvSpPr>
          <p:nvPr>
            <p:ph type="title"/>
          </p:nvPr>
        </p:nvSpPr>
        <p:spPr>
          <a:xfrm>
            <a:off x="2643200" y="421173"/>
            <a:ext cx="38577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3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90" name="Google Shape;190;p21"/>
          <p:cNvSpPr txBox="1">
            <a:spLocks noGrp="1"/>
          </p:cNvSpPr>
          <p:nvPr>
            <p:ph type="body" idx="1"/>
          </p:nvPr>
        </p:nvSpPr>
        <p:spPr>
          <a:xfrm>
            <a:off x="623850" y="1119450"/>
            <a:ext cx="3948000" cy="3481200"/>
          </a:xfrm>
          <a:prstGeom prst="rect">
            <a:avLst/>
          </a:prstGeom>
        </p:spPr>
        <p:txBody>
          <a:bodyPr spcFirstLastPara="1" wrap="square" lIns="91425" tIns="91425" rIns="91425" bIns="91425" anchor="t" anchorCtr="0">
            <a:noAutofit/>
          </a:bodyPr>
          <a:lstStyle>
            <a:lvl1pPr marL="457200" lvl="0" indent="-298450" rtl="0">
              <a:lnSpc>
                <a:spcPct val="100000"/>
              </a:lnSpc>
              <a:spcBef>
                <a:spcPts val="0"/>
              </a:spcBef>
              <a:spcAft>
                <a:spcPts val="0"/>
              </a:spcAft>
              <a:buClr>
                <a:schemeClr val="accent1"/>
              </a:buClr>
              <a:buSzPts val="1100"/>
              <a:buFont typeface="Raleway SemiBold"/>
              <a:buChar char="■"/>
              <a:defRPr sz="1400"/>
            </a:lvl1pPr>
            <a:lvl2pPr marL="914400" lvl="1" indent="-304800" rtl="0">
              <a:spcBef>
                <a:spcPts val="1600"/>
              </a:spcBef>
              <a:spcAft>
                <a:spcPts val="0"/>
              </a:spcAft>
              <a:buClr>
                <a:srgbClr val="434343"/>
              </a:buClr>
              <a:buSzPts val="1200"/>
              <a:buFont typeface="Roboto Condensed Light"/>
              <a:buChar char="○"/>
              <a:defRPr sz="1200"/>
            </a:lvl2pPr>
            <a:lvl3pPr marL="1371600" lvl="2" indent="-304800" rtl="0">
              <a:spcBef>
                <a:spcPts val="1600"/>
              </a:spcBef>
              <a:spcAft>
                <a:spcPts val="0"/>
              </a:spcAft>
              <a:buClr>
                <a:srgbClr val="434343"/>
              </a:buClr>
              <a:buSzPts val="1200"/>
              <a:buFont typeface="Roboto Condensed Light"/>
              <a:buChar char="■"/>
              <a:defRPr sz="1200"/>
            </a:lvl3pPr>
            <a:lvl4pPr marL="1828800" lvl="3" indent="-304800" rtl="0">
              <a:spcBef>
                <a:spcPts val="1600"/>
              </a:spcBef>
              <a:spcAft>
                <a:spcPts val="0"/>
              </a:spcAft>
              <a:buClr>
                <a:srgbClr val="434343"/>
              </a:buClr>
              <a:buSzPts val="1200"/>
              <a:buFont typeface="Roboto Condensed Light"/>
              <a:buChar char="●"/>
              <a:defRPr sz="1200"/>
            </a:lvl4pPr>
            <a:lvl5pPr marL="2286000" lvl="4" indent="-304800" rtl="0">
              <a:spcBef>
                <a:spcPts val="1600"/>
              </a:spcBef>
              <a:spcAft>
                <a:spcPts val="0"/>
              </a:spcAft>
              <a:buClr>
                <a:srgbClr val="434343"/>
              </a:buClr>
              <a:buSzPts val="1200"/>
              <a:buFont typeface="Roboto Condensed Light"/>
              <a:buChar char="○"/>
              <a:defRPr sz="1200"/>
            </a:lvl5pPr>
            <a:lvl6pPr marL="2743200" lvl="5" indent="-304800" rtl="0">
              <a:spcBef>
                <a:spcPts val="1600"/>
              </a:spcBef>
              <a:spcAft>
                <a:spcPts val="0"/>
              </a:spcAft>
              <a:buClr>
                <a:srgbClr val="434343"/>
              </a:buClr>
              <a:buSzPts val="1200"/>
              <a:buFont typeface="Roboto Condensed Light"/>
              <a:buChar char="■"/>
              <a:defRPr sz="1200"/>
            </a:lvl6pPr>
            <a:lvl7pPr marL="3200400" lvl="6" indent="-304800" rtl="0">
              <a:spcBef>
                <a:spcPts val="1600"/>
              </a:spcBef>
              <a:spcAft>
                <a:spcPts val="0"/>
              </a:spcAft>
              <a:buClr>
                <a:srgbClr val="434343"/>
              </a:buClr>
              <a:buSzPts val="1200"/>
              <a:buFont typeface="Roboto Condensed Light"/>
              <a:buChar char="●"/>
              <a:defRPr sz="1200"/>
            </a:lvl7pPr>
            <a:lvl8pPr marL="3657600" lvl="7" indent="-304800" rtl="0">
              <a:spcBef>
                <a:spcPts val="1600"/>
              </a:spcBef>
              <a:spcAft>
                <a:spcPts val="0"/>
              </a:spcAft>
              <a:buClr>
                <a:srgbClr val="434343"/>
              </a:buClr>
              <a:buSzPts val="1200"/>
              <a:buFont typeface="Roboto Condensed Light"/>
              <a:buChar char="○"/>
              <a:defRPr sz="1200"/>
            </a:lvl8pPr>
            <a:lvl9pPr marL="4114800" lvl="8" indent="-304800" rtl="0">
              <a:spcBef>
                <a:spcPts val="1600"/>
              </a:spcBef>
              <a:spcAft>
                <a:spcPts val="1600"/>
              </a:spcAft>
              <a:buClr>
                <a:srgbClr val="434343"/>
              </a:buClr>
              <a:buSzPts val="1200"/>
              <a:buFont typeface="Roboto Condensed Light"/>
              <a:buChar char="■"/>
              <a:defRPr sz="1200"/>
            </a:lvl9pPr>
          </a:lstStyle>
          <a:p>
            <a:endParaRPr/>
          </a:p>
        </p:txBody>
      </p:sp>
      <p:sp>
        <p:nvSpPr>
          <p:cNvPr id="191" name="Google Shape;191;p21"/>
          <p:cNvSpPr txBox="1">
            <a:spLocks noGrp="1"/>
          </p:cNvSpPr>
          <p:nvPr>
            <p:ph type="body" idx="2"/>
          </p:nvPr>
        </p:nvSpPr>
        <p:spPr>
          <a:xfrm>
            <a:off x="4767300" y="1167075"/>
            <a:ext cx="3948000" cy="2904600"/>
          </a:xfrm>
          <a:prstGeom prst="rect">
            <a:avLst/>
          </a:prstGeom>
        </p:spPr>
        <p:txBody>
          <a:bodyPr spcFirstLastPara="1" wrap="square" lIns="91425" tIns="91425" rIns="91425" bIns="91425" anchor="t" anchorCtr="0">
            <a:noAutofit/>
          </a:bodyPr>
          <a:lstStyle>
            <a:lvl1pPr marL="457200" lvl="0" indent="-298450" rtl="0">
              <a:lnSpc>
                <a:spcPct val="100000"/>
              </a:lnSpc>
              <a:spcBef>
                <a:spcPts val="0"/>
              </a:spcBef>
              <a:spcAft>
                <a:spcPts val="0"/>
              </a:spcAft>
              <a:buClr>
                <a:schemeClr val="accent1"/>
              </a:buClr>
              <a:buSzPts val="1100"/>
              <a:buFont typeface="Raleway SemiBold"/>
              <a:buChar char="■"/>
              <a:defRPr sz="1400"/>
            </a:lvl1pPr>
            <a:lvl2pPr marL="914400" lvl="1" indent="-304800" rtl="0">
              <a:spcBef>
                <a:spcPts val="1600"/>
              </a:spcBef>
              <a:spcAft>
                <a:spcPts val="0"/>
              </a:spcAft>
              <a:buClr>
                <a:srgbClr val="434343"/>
              </a:buClr>
              <a:buSzPts val="1200"/>
              <a:buFont typeface="Roboto Condensed Light"/>
              <a:buChar char="○"/>
              <a:defRPr sz="1200"/>
            </a:lvl2pPr>
            <a:lvl3pPr marL="1371600" lvl="2" indent="-304800" rtl="0">
              <a:spcBef>
                <a:spcPts val="1600"/>
              </a:spcBef>
              <a:spcAft>
                <a:spcPts val="0"/>
              </a:spcAft>
              <a:buClr>
                <a:srgbClr val="434343"/>
              </a:buClr>
              <a:buSzPts val="1200"/>
              <a:buFont typeface="Roboto Condensed Light"/>
              <a:buChar char="■"/>
              <a:defRPr sz="1200"/>
            </a:lvl3pPr>
            <a:lvl4pPr marL="1828800" lvl="3" indent="-304800" rtl="0">
              <a:spcBef>
                <a:spcPts val="1600"/>
              </a:spcBef>
              <a:spcAft>
                <a:spcPts val="0"/>
              </a:spcAft>
              <a:buClr>
                <a:srgbClr val="434343"/>
              </a:buClr>
              <a:buSzPts val="1200"/>
              <a:buFont typeface="Roboto Condensed Light"/>
              <a:buChar char="●"/>
              <a:defRPr sz="1200"/>
            </a:lvl4pPr>
            <a:lvl5pPr marL="2286000" lvl="4" indent="-304800" rtl="0">
              <a:spcBef>
                <a:spcPts val="1600"/>
              </a:spcBef>
              <a:spcAft>
                <a:spcPts val="0"/>
              </a:spcAft>
              <a:buClr>
                <a:srgbClr val="434343"/>
              </a:buClr>
              <a:buSzPts val="1200"/>
              <a:buFont typeface="Roboto Condensed Light"/>
              <a:buChar char="○"/>
              <a:defRPr sz="1200"/>
            </a:lvl5pPr>
            <a:lvl6pPr marL="2743200" lvl="5" indent="-304800" rtl="0">
              <a:spcBef>
                <a:spcPts val="1600"/>
              </a:spcBef>
              <a:spcAft>
                <a:spcPts val="0"/>
              </a:spcAft>
              <a:buClr>
                <a:srgbClr val="434343"/>
              </a:buClr>
              <a:buSzPts val="1200"/>
              <a:buFont typeface="Roboto Condensed Light"/>
              <a:buChar char="■"/>
              <a:defRPr sz="1200"/>
            </a:lvl6pPr>
            <a:lvl7pPr marL="3200400" lvl="6" indent="-304800" rtl="0">
              <a:spcBef>
                <a:spcPts val="1600"/>
              </a:spcBef>
              <a:spcAft>
                <a:spcPts val="0"/>
              </a:spcAft>
              <a:buClr>
                <a:srgbClr val="434343"/>
              </a:buClr>
              <a:buSzPts val="1200"/>
              <a:buFont typeface="Roboto Condensed Light"/>
              <a:buChar char="●"/>
              <a:defRPr sz="1200"/>
            </a:lvl7pPr>
            <a:lvl8pPr marL="3657600" lvl="7" indent="-304800" rtl="0">
              <a:spcBef>
                <a:spcPts val="1600"/>
              </a:spcBef>
              <a:spcAft>
                <a:spcPts val="0"/>
              </a:spcAft>
              <a:buClr>
                <a:srgbClr val="434343"/>
              </a:buClr>
              <a:buSzPts val="1200"/>
              <a:buFont typeface="Roboto Condensed Light"/>
              <a:buChar char="○"/>
              <a:defRPr sz="1200"/>
            </a:lvl8pPr>
            <a:lvl9pPr marL="4114800" lvl="8" indent="-304800" rtl="0">
              <a:spcBef>
                <a:spcPts val="1600"/>
              </a:spcBef>
              <a:spcAft>
                <a:spcPts val="1600"/>
              </a:spcAft>
              <a:buClr>
                <a:srgbClr val="434343"/>
              </a:buClr>
              <a:buSzPts val="1200"/>
              <a:buFont typeface="Roboto Condensed Light"/>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9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500"/>
              <a:buFont typeface="Montserrat"/>
              <a:buNone/>
              <a:defRPr sz="2500" b="1">
                <a:solidFill>
                  <a:schemeClr val="accent1"/>
                </a:solidFill>
                <a:latin typeface="Montserrat"/>
                <a:ea typeface="Montserrat"/>
                <a:cs typeface="Montserrat"/>
                <a:sym typeface="Montserrat"/>
              </a:defRPr>
            </a:lvl1pPr>
            <a:lvl2pPr lvl="1">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2pPr>
            <a:lvl3pPr lvl="2">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3pPr>
            <a:lvl4pPr lvl="3">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4pPr>
            <a:lvl5pPr lvl="4">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5pPr>
            <a:lvl6pPr lvl="5">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6pPr>
            <a:lvl7pPr lvl="6">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7pPr>
            <a:lvl8pPr lvl="7">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8pPr>
            <a:lvl9pPr lvl="8">
              <a:spcBef>
                <a:spcPts val="0"/>
              </a:spcBef>
              <a:spcAft>
                <a:spcPts val="0"/>
              </a:spcAft>
              <a:buClr>
                <a:schemeClr val="accent1"/>
              </a:buClr>
              <a:buSzPts val="2800"/>
              <a:buFont typeface="Lobster Two"/>
              <a:buNone/>
              <a:defRPr sz="2800" b="1">
                <a:solidFill>
                  <a:schemeClr val="accent1"/>
                </a:solidFill>
                <a:latin typeface="Lobster Two"/>
                <a:ea typeface="Lobster Two"/>
                <a:cs typeface="Lobster Two"/>
                <a:sym typeface="Lobster Tw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66" r:id="rId4"/>
    <p:sldLayoutId id="2147483667"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42">
          <p15:clr>
            <a:srgbClr val="EA4335"/>
          </p15:clr>
        </p15:guide>
        <p15:guide id="3" pos="5310">
          <p15:clr>
            <a:srgbClr val="EA4335"/>
          </p15:clr>
        </p15:guide>
        <p15:guide id="4" orient="horz" pos="2898">
          <p15:clr>
            <a:srgbClr val="EA4335"/>
          </p15:clr>
        </p15:guide>
        <p15:guide id="5" pos="2880">
          <p15:clr>
            <a:srgbClr val="EA4335"/>
          </p15:clr>
        </p15:guide>
        <p15:guide id="6" orient="horz" pos="1620">
          <p15:clr>
            <a:srgbClr val="EA4335"/>
          </p15:clr>
        </p15:guide>
        <p15:guide id="7" pos="1665">
          <p15:clr>
            <a:srgbClr val="EA4335"/>
          </p15:clr>
        </p15:guide>
        <p15:guide id="8" pos="4095">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00"/>
        <p:cNvGrpSpPr/>
        <p:nvPr/>
      </p:nvGrpSpPr>
      <p:grpSpPr>
        <a:xfrm>
          <a:off x="0" y="0"/>
          <a:ext cx="0" cy="0"/>
          <a:chOff x="0" y="0"/>
          <a:chExt cx="0" cy="0"/>
        </a:xfrm>
      </p:grpSpPr>
      <p:sp>
        <p:nvSpPr>
          <p:cNvPr id="201" name="Google Shape;201;p25"/>
          <p:cNvSpPr txBox="1">
            <a:spLocks noGrp="1"/>
          </p:cNvSpPr>
          <p:nvPr>
            <p:ph type="ctrTitle"/>
          </p:nvPr>
        </p:nvSpPr>
        <p:spPr>
          <a:xfrm>
            <a:off x="435644" y="240481"/>
            <a:ext cx="4457700" cy="2705100"/>
          </a:xfrm>
          <a:prstGeom prst="rect">
            <a:avLst/>
          </a:prstGeom>
        </p:spPr>
        <p:txBody>
          <a:bodyPr spcFirstLastPara="1" wrap="square" lIns="91425" tIns="91425" rIns="91425" bIns="91425" anchor="b" anchorCtr="0">
            <a:noAutofit/>
          </a:bodyPr>
          <a:lstStyle/>
          <a:p>
            <a:pPr lvl="0">
              <a:lnSpc>
                <a:spcPct val="80000"/>
              </a:lnSpc>
            </a:pPr>
            <a:r>
              <a:rPr lang="en-US" sz="3600" dirty="0">
                <a:latin typeface="Calibri" panose="020F0502020204030204" pitchFamily="34" charset="0"/>
                <a:cs typeface="Calibri" panose="020F0502020204030204" pitchFamily="34" charset="0"/>
              </a:rPr>
              <a:t>Turning Data into Decisions: E-Commerce Analytics Case Study</a:t>
            </a:r>
            <a:endParaRPr sz="3600" dirty="0">
              <a:latin typeface="Calibri" panose="020F0502020204030204" pitchFamily="34" charset="0"/>
              <a:cs typeface="Calibri" panose="020F0502020204030204" pitchFamily="34" charset="0"/>
            </a:endParaRPr>
          </a:p>
        </p:txBody>
      </p:sp>
      <p:sp>
        <p:nvSpPr>
          <p:cNvPr id="202" name="Google Shape;202;p25"/>
          <p:cNvSpPr txBox="1">
            <a:spLocks noGrp="1"/>
          </p:cNvSpPr>
          <p:nvPr>
            <p:ph type="subTitle" idx="1"/>
          </p:nvPr>
        </p:nvSpPr>
        <p:spPr>
          <a:xfrm>
            <a:off x="0" y="4661700"/>
            <a:ext cx="4363278" cy="48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t>By Nidhi Desai  Role : Data Analyst</a:t>
            </a:r>
            <a:endParaRPr dirty="0"/>
          </a:p>
        </p:txBody>
      </p:sp>
      <p:grpSp>
        <p:nvGrpSpPr>
          <p:cNvPr id="343" name="Google Shape;343;p25"/>
          <p:cNvGrpSpPr/>
          <p:nvPr/>
        </p:nvGrpSpPr>
        <p:grpSpPr>
          <a:xfrm>
            <a:off x="4705404" y="1762155"/>
            <a:ext cx="1466742" cy="2305013"/>
            <a:chOff x="4743504" y="1647855"/>
            <a:chExt cx="1466742" cy="2305013"/>
          </a:xfrm>
        </p:grpSpPr>
        <p:grpSp>
          <p:nvGrpSpPr>
            <p:cNvPr id="344" name="Google Shape;344;p25"/>
            <p:cNvGrpSpPr/>
            <p:nvPr/>
          </p:nvGrpSpPr>
          <p:grpSpPr>
            <a:xfrm>
              <a:off x="4743504" y="1647855"/>
              <a:ext cx="1466742" cy="2305013"/>
              <a:chOff x="781050" y="1335020"/>
              <a:chExt cx="1338146" cy="2102730"/>
            </a:xfrm>
          </p:grpSpPr>
          <p:sp>
            <p:nvSpPr>
              <p:cNvPr id="345" name="Google Shape;345;p25"/>
              <p:cNvSpPr/>
              <p:nvPr/>
            </p:nvSpPr>
            <p:spPr>
              <a:xfrm>
                <a:off x="781050" y="2662248"/>
                <a:ext cx="1338146" cy="775502"/>
              </a:xfrm>
              <a:custGeom>
                <a:avLst/>
                <a:gdLst/>
                <a:ahLst/>
                <a:cxnLst/>
                <a:rect l="l" t="t" r="r" b="b"/>
                <a:pathLst>
                  <a:path w="37449" h="21703" extrusionOk="0">
                    <a:moveTo>
                      <a:pt x="25655" y="0"/>
                    </a:moveTo>
                    <a:lnTo>
                      <a:pt x="1" y="14864"/>
                    </a:lnTo>
                    <a:lnTo>
                      <a:pt x="11794" y="21703"/>
                    </a:lnTo>
                    <a:lnTo>
                      <a:pt x="37448" y="6870"/>
                    </a:lnTo>
                    <a:lnTo>
                      <a:pt x="256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5"/>
              <p:cNvSpPr/>
              <p:nvPr/>
            </p:nvSpPr>
            <p:spPr>
              <a:xfrm>
                <a:off x="1096028" y="1335020"/>
                <a:ext cx="404063" cy="699499"/>
              </a:xfrm>
              <a:custGeom>
                <a:avLst/>
                <a:gdLst/>
                <a:ahLst/>
                <a:cxnLst/>
                <a:rect l="l" t="t" r="r" b="b"/>
                <a:pathLst>
                  <a:path w="11308" h="19576" extrusionOk="0">
                    <a:moveTo>
                      <a:pt x="5624" y="1794"/>
                    </a:moveTo>
                    <a:cubicBezTo>
                      <a:pt x="8755" y="1"/>
                      <a:pt x="11277" y="1460"/>
                      <a:pt x="11308" y="5016"/>
                    </a:cubicBezTo>
                    <a:lnTo>
                      <a:pt x="11308" y="12646"/>
                    </a:lnTo>
                    <a:cubicBezTo>
                      <a:pt x="11308" y="12949"/>
                      <a:pt x="11126" y="13284"/>
                      <a:pt x="10852" y="13436"/>
                    </a:cubicBezTo>
                    <a:cubicBezTo>
                      <a:pt x="10578" y="13588"/>
                      <a:pt x="10366" y="13466"/>
                      <a:pt x="10366" y="13162"/>
                    </a:cubicBezTo>
                    <a:lnTo>
                      <a:pt x="10366" y="5563"/>
                    </a:lnTo>
                    <a:cubicBezTo>
                      <a:pt x="10335" y="2585"/>
                      <a:pt x="8238" y="1369"/>
                      <a:pt x="5624" y="2889"/>
                    </a:cubicBezTo>
                    <a:cubicBezTo>
                      <a:pt x="3040" y="4378"/>
                      <a:pt x="943" y="8025"/>
                      <a:pt x="943" y="11004"/>
                    </a:cubicBezTo>
                    <a:lnTo>
                      <a:pt x="973" y="18603"/>
                    </a:lnTo>
                    <a:cubicBezTo>
                      <a:pt x="973" y="18907"/>
                      <a:pt x="761" y="19272"/>
                      <a:pt x="517" y="19424"/>
                    </a:cubicBezTo>
                    <a:cubicBezTo>
                      <a:pt x="244" y="19576"/>
                      <a:pt x="31" y="19454"/>
                      <a:pt x="31" y="19150"/>
                    </a:cubicBezTo>
                    <a:lnTo>
                      <a:pt x="1" y="11521"/>
                    </a:lnTo>
                    <a:cubicBezTo>
                      <a:pt x="1" y="7965"/>
                      <a:pt x="2524" y="3588"/>
                      <a:pt x="5624" y="179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5"/>
              <p:cNvSpPr/>
              <p:nvPr/>
            </p:nvSpPr>
            <p:spPr>
              <a:xfrm>
                <a:off x="781050" y="1983448"/>
                <a:ext cx="426896" cy="1419581"/>
              </a:xfrm>
              <a:custGeom>
                <a:avLst/>
                <a:gdLst/>
                <a:ahLst/>
                <a:cxnLst/>
                <a:rect l="l" t="t" r="r" b="b"/>
                <a:pathLst>
                  <a:path w="11947" h="39728" extrusionOk="0">
                    <a:moveTo>
                      <a:pt x="5229" y="0"/>
                    </a:moveTo>
                    <a:lnTo>
                      <a:pt x="1" y="32888"/>
                    </a:lnTo>
                    <a:lnTo>
                      <a:pt x="11794" y="39727"/>
                    </a:lnTo>
                    <a:lnTo>
                      <a:pt x="11946" y="3891"/>
                    </a:lnTo>
                    <a:lnTo>
                      <a:pt x="52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5"/>
              <p:cNvSpPr/>
              <p:nvPr/>
            </p:nvSpPr>
            <p:spPr>
              <a:xfrm>
                <a:off x="1004804" y="2058378"/>
                <a:ext cx="203139" cy="1344650"/>
              </a:xfrm>
              <a:custGeom>
                <a:avLst/>
                <a:gdLst/>
                <a:ahLst/>
                <a:cxnLst/>
                <a:rect l="l" t="t" r="r" b="b"/>
                <a:pathLst>
                  <a:path w="5685" h="37631" extrusionOk="0">
                    <a:moveTo>
                      <a:pt x="2554" y="0"/>
                    </a:moveTo>
                    <a:lnTo>
                      <a:pt x="0" y="29545"/>
                    </a:lnTo>
                    <a:lnTo>
                      <a:pt x="5532" y="37630"/>
                    </a:lnTo>
                    <a:lnTo>
                      <a:pt x="5684" y="1794"/>
                    </a:lnTo>
                    <a:lnTo>
                      <a:pt x="25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5"/>
              <p:cNvSpPr/>
              <p:nvPr/>
            </p:nvSpPr>
            <p:spPr>
              <a:xfrm>
                <a:off x="781050" y="1983448"/>
                <a:ext cx="315018" cy="1175206"/>
              </a:xfrm>
              <a:custGeom>
                <a:avLst/>
                <a:gdLst/>
                <a:ahLst/>
                <a:cxnLst/>
                <a:rect l="l" t="t" r="r" b="b"/>
                <a:pathLst>
                  <a:path w="8816" h="32889" extrusionOk="0">
                    <a:moveTo>
                      <a:pt x="5229" y="0"/>
                    </a:moveTo>
                    <a:lnTo>
                      <a:pt x="1" y="32888"/>
                    </a:lnTo>
                    <a:lnTo>
                      <a:pt x="1" y="32888"/>
                    </a:lnTo>
                    <a:lnTo>
                      <a:pt x="6262" y="31642"/>
                    </a:lnTo>
                    <a:lnTo>
                      <a:pt x="8816" y="2097"/>
                    </a:lnTo>
                    <a:lnTo>
                      <a:pt x="52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5"/>
              <p:cNvSpPr/>
              <p:nvPr/>
            </p:nvSpPr>
            <p:spPr>
              <a:xfrm>
                <a:off x="967893" y="1568564"/>
                <a:ext cx="957953" cy="553925"/>
              </a:xfrm>
              <a:custGeom>
                <a:avLst/>
                <a:gdLst/>
                <a:ahLst/>
                <a:cxnLst/>
                <a:rect l="l" t="t" r="r" b="b"/>
                <a:pathLst>
                  <a:path w="26809" h="15502" extrusionOk="0">
                    <a:moveTo>
                      <a:pt x="20092" y="0"/>
                    </a:moveTo>
                    <a:lnTo>
                      <a:pt x="0" y="11611"/>
                    </a:lnTo>
                    <a:lnTo>
                      <a:pt x="6717" y="15502"/>
                    </a:lnTo>
                    <a:lnTo>
                      <a:pt x="26809" y="3921"/>
                    </a:lnTo>
                    <a:lnTo>
                      <a:pt x="200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5"/>
              <p:cNvSpPr/>
              <p:nvPr/>
            </p:nvSpPr>
            <p:spPr>
              <a:xfrm>
                <a:off x="967893" y="1568564"/>
                <a:ext cx="721189" cy="553925"/>
              </a:xfrm>
              <a:custGeom>
                <a:avLst/>
                <a:gdLst/>
                <a:ahLst/>
                <a:cxnLst/>
                <a:rect l="l" t="t" r="r" b="b"/>
                <a:pathLst>
                  <a:path w="20183" h="15502" extrusionOk="0">
                    <a:moveTo>
                      <a:pt x="20092" y="0"/>
                    </a:moveTo>
                    <a:lnTo>
                      <a:pt x="0" y="11611"/>
                    </a:lnTo>
                    <a:lnTo>
                      <a:pt x="6717" y="15502"/>
                    </a:lnTo>
                    <a:lnTo>
                      <a:pt x="20183" y="7720"/>
                    </a:lnTo>
                    <a:lnTo>
                      <a:pt x="2009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5"/>
              <p:cNvSpPr/>
              <p:nvPr/>
            </p:nvSpPr>
            <p:spPr>
              <a:xfrm>
                <a:off x="1202473" y="1708669"/>
                <a:ext cx="916717" cy="1694364"/>
              </a:xfrm>
              <a:custGeom>
                <a:avLst/>
                <a:gdLst/>
                <a:ahLst/>
                <a:cxnLst/>
                <a:rect l="l" t="t" r="r" b="b"/>
                <a:pathLst>
                  <a:path w="25655" h="47418" extrusionOk="0">
                    <a:moveTo>
                      <a:pt x="20244" y="0"/>
                    </a:moveTo>
                    <a:lnTo>
                      <a:pt x="152" y="11581"/>
                    </a:lnTo>
                    <a:lnTo>
                      <a:pt x="0" y="47417"/>
                    </a:lnTo>
                    <a:lnTo>
                      <a:pt x="25654" y="32615"/>
                    </a:lnTo>
                    <a:lnTo>
                      <a:pt x="202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5"/>
              <p:cNvSpPr/>
              <p:nvPr/>
            </p:nvSpPr>
            <p:spPr>
              <a:xfrm>
                <a:off x="1392532" y="1507712"/>
                <a:ext cx="404063" cy="698427"/>
              </a:xfrm>
              <a:custGeom>
                <a:avLst/>
                <a:gdLst/>
                <a:ahLst/>
                <a:cxnLst/>
                <a:rect l="l" t="t" r="r" b="b"/>
                <a:pathLst>
                  <a:path w="11308" h="19546" extrusionOk="0">
                    <a:moveTo>
                      <a:pt x="5624" y="1794"/>
                    </a:moveTo>
                    <a:cubicBezTo>
                      <a:pt x="8755" y="1"/>
                      <a:pt x="11278" y="1460"/>
                      <a:pt x="11308" y="5016"/>
                    </a:cubicBezTo>
                    <a:lnTo>
                      <a:pt x="11308" y="12615"/>
                    </a:lnTo>
                    <a:cubicBezTo>
                      <a:pt x="11308" y="12919"/>
                      <a:pt x="11095" y="13284"/>
                      <a:pt x="10852" y="13436"/>
                    </a:cubicBezTo>
                    <a:cubicBezTo>
                      <a:pt x="10578" y="13588"/>
                      <a:pt x="10366" y="13466"/>
                      <a:pt x="10366" y="13162"/>
                    </a:cubicBezTo>
                    <a:lnTo>
                      <a:pt x="10366" y="5563"/>
                    </a:lnTo>
                    <a:cubicBezTo>
                      <a:pt x="10335" y="2584"/>
                      <a:pt x="8238" y="1369"/>
                      <a:pt x="5624" y="2858"/>
                    </a:cubicBezTo>
                    <a:cubicBezTo>
                      <a:pt x="3040" y="4378"/>
                      <a:pt x="943" y="7995"/>
                      <a:pt x="943" y="10974"/>
                    </a:cubicBezTo>
                    <a:lnTo>
                      <a:pt x="973" y="18603"/>
                    </a:lnTo>
                    <a:cubicBezTo>
                      <a:pt x="973" y="18907"/>
                      <a:pt x="761" y="19241"/>
                      <a:pt x="517" y="19393"/>
                    </a:cubicBezTo>
                    <a:cubicBezTo>
                      <a:pt x="244" y="19545"/>
                      <a:pt x="31" y="19424"/>
                      <a:pt x="31" y="19150"/>
                    </a:cubicBezTo>
                    <a:lnTo>
                      <a:pt x="1" y="11521"/>
                    </a:lnTo>
                    <a:cubicBezTo>
                      <a:pt x="1" y="7965"/>
                      <a:pt x="2524" y="3588"/>
                      <a:pt x="5624" y="179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 name="Google Shape;354;p25"/>
            <p:cNvSpPr/>
            <p:nvPr/>
          </p:nvSpPr>
          <p:spPr>
            <a:xfrm>
              <a:off x="5717502" y="2945294"/>
              <a:ext cx="298767" cy="381227"/>
            </a:xfrm>
            <a:custGeom>
              <a:avLst/>
              <a:gdLst/>
              <a:ahLst/>
              <a:cxnLst/>
              <a:rect l="l" t="t" r="r" b="b"/>
              <a:pathLst>
                <a:path w="6779" h="8650" extrusionOk="0">
                  <a:moveTo>
                    <a:pt x="3956" y="2745"/>
                  </a:moveTo>
                  <a:cubicBezTo>
                    <a:pt x="4062" y="2745"/>
                    <a:pt x="4161" y="2772"/>
                    <a:pt x="4256" y="2831"/>
                  </a:cubicBezTo>
                  <a:cubicBezTo>
                    <a:pt x="4499" y="2953"/>
                    <a:pt x="4621" y="3257"/>
                    <a:pt x="4621" y="3622"/>
                  </a:cubicBezTo>
                  <a:cubicBezTo>
                    <a:pt x="4621" y="4017"/>
                    <a:pt x="4499" y="4412"/>
                    <a:pt x="4256" y="4838"/>
                  </a:cubicBezTo>
                  <a:cubicBezTo>
                    <a:pt x="4043" y="5263"/>
                    <a:pt x="3739" y="5537"/>
                    <a:pt x="3405" y="5719"/>
                  </a:cubicBezTo>
                  <a:cubicBezTo>
                    <a:pt x="3189" y="5837"/>
                    <a:pt x="2986" y="5904"/>
                    <a:pt x="2812" y="5904"/>
                  </a:cubicBezTo>
                  <a:cubicBezTo>
                    <a:pt x="2716" y="5904"/>
                    <a:pt x="2629" y="5884"/>
                    <a:pt x="2554" y="5841"/>
                  </a:cubicBezTo>
                  <a:cubicBezTo>
                    <a:pt x="2341" y="5689"/>
                    <a:pt x="2189" y="5415"/>
                    <a:pt x="2189" y="5020"/>
                  </a:cubicBezTo>
                  <a:cubicBezTo>
                    <a:pt x="2189" y="4625"/>
                    <a:pt x="2311" y="4230"/>
                    <a:pt x="2554" y="3804"/>
                  </a:cubicBezTo>
                  <a:cubicBezTo>
                    <a:pt x="2797" y="3409"/>
                    <a:pt x="3071" y="3105"/>
                    <a:pt x="3405" y="2923"/>
                  </a:cubicBezTo>
                  <a:cubicBezTo>
                    <a:pt x="3609" y="2811"/>
                    <a:pt x="3790" y="2745"/>
                    <a:pt x="3956" y="2745"/>
                  </a:cubicBezTo>
                  <a:close/>
                  <a:moveTo>
                    <a:pt x="4978" y="1"/>
                  </a:moveTo>
                  <a:cubicBezTo>
                    <a:pt x="4495" y="1"/>
                    <a:pt x="3963" y="156"/>
                    <a:pt x="3405" y="491"/>
                  </a:cubicBezTo>
                  <a:cubicBezTo>
                    <a:pt x="2797" y="825"/>
                    <a:pt x="2219" y="1312"/>
                    <a:pt x="1703" y="1980"/>
                  </a:cubicBezTo>
                  <a:cubicBezTo>
                    <a:pt x="1186" y="2588"/>
                    <a:pt x="791" y="3287"/>
                    <a:pt x="487" y="4078"/>
                  </a:cubicBezTo>
                  <a:cubicBezTo>
                    <a:pt x="183" y="4838"/>
                    <a:pt x="1" y="5597"/>
                    <a:pt x="31" y="6266"/>
                  </a:cubicBezTo>
                  <a:cubicBezTo>
                    <a:pt x="31" y="6965"/>
                    <a:pt x="183" y="7512"/>
                    <a:pt x="487" y="7938"/>
                  </a:cubicBezTo>
                  <a:cubicBezTo>
                    <a:pt x="791" y="8363"/>
                    <a:pt x="1216" y="8576"/>
                    <a:pt x="1733" y="8637"/>
                  </a:cubicBezTo>
                  <a:cubicBezTo>
                    <a:pt x="1807" y="8646"/>
                    <a:pt x="1881" y="8650"/>
                    <a:pt x="1957" y="8650"/>
                  </a:cubicBezTo>
                  <a:cubicBezTo>
                    <a:pt x="2407" y="8650"/>
                    <a:pt x="2884" y="8494"/>
                    <a:pt x="3405" y="8181"/>
                  </a:cubicBezTo>
                  <a:cubicBezTo>
                    <a:pt x="4043" y="7816"/>
                    <a:pt x="4590" y="7330"/>
                    <a:pt x="5137" y="6692"/>
                  </a:cubicBezTo>
                  <a:cubicBezTo>
                    <a:pt x="5624" y="6023"/>
                    <a:pt x="6049" y="5324"/>
                    <a:pt x="6353" y="4564"/>
                  </a:cubicBezTo>
                  <a:cubicBezTo>
                    <a:pt x="6657" y="3804"/>
                    <a:pt x="6779" y="3075"/>
                    <a:pt x="6779" y="2375"/>
                  </a:cubicBezTo>
                  <a:cubicBezTo>
                    <a:pt x="6779" y="1676"/>
                    <a:pt x="6627" y="1099"/>
                    <a:pt x="6323" y="704"/>
                  </a:cubicBezTo>
                  <a:cubicBezTo>
                    <a:pt x="6019" y="278"/>
                    <a:pt x="5593" y="35"/>
                    <a:pt x="5107" y="5"/>
                  </a:cubicBezTo>
                  <a:cubicBezTo>
                    <a:pt x="5064" y="2"/>
                    <a:pt x="5021" y="1"/>
                    <a:pt x="49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5"/>
            <p:cNvSpPr/>
            <p:nvPr/>
          </p:nvSpPr>
          <p:spPr>
            <a:xfrm>
              <a:off x="5365175" y="2766719"/>
              <a:ext cx="297445" cy="380302"/>
            </a:xfrm>
            <a:custGeom>
              <a:avLst/>
              <a:gdLst/>
              <a:ahLst/>
              <a:cxnLst/>
              <a:rect l="l" t="t" r="r" b="b"/>
              <a:pathLst>
                <a:path w="6749" h="8629" extrusionOk="0">
                  <a:moveTo>
                    <a:pt x="3916" y="2743"/>
                  </a:moveTo>
                  <a:cubicBezTo>
                    <a:pt x="4030" y="2743"/>
                    <a:pt x="4134" y="2775"/>
                    <a:pt x="4226" y="2841"/>
                  </a:cubicBezTo>
                  <a:cubicBezTo>
                    <a:pt x="4469" y="2962"/>
                    <a:pt x="4590" y="3236"/>
                    <a:pt x="4590" y="3601"/>
                  </a:cubicBezTo>
                  <a:cubicBezTo>
                    <a:pt x="4590" y="3996"/>
                    <a:pt x="4469" y="4391"/>
                    <a:pt x="4226" y="4847"/>
                  </a:cubicBezTo>
                  <a:cubicBezTo>
                    <a:pt x="4013" y="5242"/>
                    <a:pt x="3739" y="5516"/>
                    <a:pt x="3405" y="5728"/>
                  </a:cubicBezTo>
                  <a:cubicBezTo>
                    <a:pt x="3186" y="5838"/>
                    <a:pt x="3000" y="5893"/>
                    <a:pt x="2834" y="5893"/>
                  </a:cubicBezTo>
                  <a:cubicBezTo>
                    <a:pt x="2723" y="5893"/>
                    <a:pt x="2621" y="5868"/>
                    <a:pt x="2523" y="5820"/>
                  </a:cubicBezTo>
                  <a:cubicBezTo>
                    <a:pt x="2311" y="5668"/>
                    <a:pt x="2189" y="5394"/>
                    <a:pt x="2189" y="4999"/>
                  </a:cubicBezTo>
                  <a:cubicBezTo>
                    <a:pt x="2189" y="4604"/>
                    <a:pt x="2311" y="4209"/>
                    <a:pt x="2523" y="3813"/>
                  </a:cubicBezTo>
                  <a:cubicBezTo>
                    <a:pt x="2797" y="3388"/>
                    <a:pt x="3070" y="3114"/>
                    <a:pt x="3405" y="2902"/>
                  </a:cubicBezTo>
                  <a:cubicBezTo>
                    <a:pt x="3595" y="2798"/>
                    <a:pt x="3765" y="2743"/>
                    <a:pt x="3916" y="2743"/>
                  </a:cubicBezTo>
                  <a:close/>
                  <a:moveTo>
                    <a:pt x="4852" y="1"/>
                  </a:moveTo>
                  <a:cubicBezTo>
                    <a:pt x="4394" y="1"/>
                    <a:pt x="3896" y="157"/>
                    <a:pt x="3374" y="470"/>
                  </a:cubicBezTo>
                  <a:cubicBezTo>
                    <a:pt x="2767" y="804"/>
                    <a:pt x="2219" y="1321"/>
                    <a:pt x="1703" y="1959"/>
                  </a:cubicBezTo>
                  <a:cubicBezTo>
                    <a:pt x="1186" y="2567"/>
                    <a:pt x="760" y="3297"/>
                    <a:pt x="456" y="4057"/>
                  </a:cubicBezTo>
                  <a:cubicBezTo>
                    <a:pt x="153" y="4847"/>
                    <a:pt x="1" y="5576"/>
                    <a:pt x="1" y="6275"/>
                  </a:cubicBezTo>
                  <a:cubicBezTo>
                    <a:pt x="1" y="6944"/>
                    <a:pt x="153" y="7522"/>
                    <a:pt x="456" y="7917"/>
                  </a:cubicBezTo>
                  <a:cubicBezTo>
                    <a:pt x="791" y="8342"/>
                    <a:pt x="1216" y="8586"/>
                    <a:pt x="1733" y="8616"/>
                  </a:cubicBezTo>
                  <a:cubicBezTo>
                    <a:pt x="1807" y="8625"/>
                    <a:pt x="1881" y="8629"/>
                    <a:pt x="1956" y="8629"/>
                  </a:cubicBezTo>
                  <a:cubicBezTo>
                    <a:pt x="2407" y="8629"/>
                    <a:pt x="2884" y="8473"/>
                    <a:pt x="3405" y="8160"/>
                  </a:cubicBezTo>
                  <a:cubicBezTo>
                    <a:pt x="4013" y="7826"/>
                    <a:pt x="4590" y="7309"/>
                    <a:pt x="5107" y="6671"/>
                  </a:cubicBezTo>
                  <a:cubicBezTo>
                    <a:pt x="5624" y="6032"/>
                    <a:pt x="6049" y="5303"/>
                    <a:pt x="6323" y="4543"/>
                  </a:cubicBezTo>
                  <a:cubicBezTo>
                    <a:pt x="6627" y="3783"/>
                    <a:pt x="6748" y="3054"/>
                    <a:pt x="6748" y="2354"/>
                  </a:cubicBezTo>
                  <a:cubicBezTo>
                    <a:pt x="6748" y="1686"/>
                    <a:pt x="6596" y="1108"/>
                    <a:pt x="6292" y="683"/>
                  </a:cubicBezTo>
                  <a:cubicBezTo>
                    <a:pt x="5988" y="257"/>
                    <a:pt x="5593" y="44"/>
                    <a:pt x="5077" y="14"/>
                  </a:cubicBezTo>
                  <a:cubicBezTo>
                    <a:pt x="5003" y="5"/>
                    <a:pt x="4928" y="1"/>
                    <a:pt x="48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5"/>
            <p:cNvSpPr/>
            <p:nvPr/>
          </p:nvSpPr>
          <p:spPr>
            <a:xfrm>
              <a:off x="5464297" y="2571750"/>
              <a:ext cx="443457" cy="952495"/>
            </a:xfrm>
            <a:custGeom>
              <a:avLst/>
              <a:gdLst/>
              <a:ahLst/>
              <a:cxnLst/>
              <a:rect l="l" t="t" r="r" b="b"/>
              <a:pathLst>
                <a:path w="10062" h="21612" extrusionOk="0">
                  <a:moveTo>
                    <a:pt x="10001" y="0"/>
                  </a:moveTo>
                  <a:lnTo>
                    <a:pt x="9819" y="61"/>
                  </a:lnTo>
                  <a:lnTo>
                    <a:pt x="7813" y="1186"/>
                  </a:lnTo>
                  <a:lnTo>
                    <a:pt x="7448" y="1642"/>
                  </a:lnTo>
                  <a:lnTo>
                    <a:pt x="62" y="21338"/>
                  </a:lnTo>
                  <a:lnTo>
                    <a:pt x="1" y="21520"/>
                  </a:lnTo>
                  <a:lnTo>
                    <a:pt x="274" y="21612"/>
                  </a:lnTo>
                  <a:lnTo>
                    <a:pt x="2250" y="20487"/>
                  </a:lnTo>
                  <a:lnTo>
                    <a:pt x="2615" y="20001"/>
                  </a:lnTo>
                  <a:lnTo>
                    <a:pt x="10001" y="365"/>
                  </a:lnTo>
                  <a:lnTo>
                    <a:pt x="10062" y="91"/>
                  </a:lnTo>
                  <a:lnTo>
                    <a:pt x="100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9733" y="240481"/>
            <a:ext cx="3429000" cy="51435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369"/>
        <p:cNvGrpSpPr/>
        <p:nvPr/>
      </p:nvGrpSpPr>
      <p:grpSpPr>
        <a:xfrm>
          <a:off x="0" y="0"/>
          <a:ext cx="0" cy="0"/>
          <a:chOff x="0" y="0"/>
          <a:chExt cx="0" cy="0"/>
        </a:xfrm>
      </p:grpSpPr>
      <p:sp>
        <p:nvSpPr>
          <p:cNvPr id="3370" name="Google Shape;3370;p51"/>
          <p:cNvSpPr txBox="1">
            <a:spLocks noGrp="1"/>
          </p:cNvSpPr>
          <p:nvPr>
            <p:ph type="title"/>
          </p:nvPr>
        </p:nvSpPr>
        <p:spPr>
          <a:xfrm>
            <a:off x="2643200" y="421173"/>
            <a:ext cx="3857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smtClean="0"/>
              <a:t>Table Of Content </a:t>
            </a:r>
            <a:endParaRPr dirty="0"/>
          </a:p>
        </p:txBody>
      </p:sp>
      <p:sp>
        <p:nvSpPr>
          <p:cNvPr id="3" name="Text Placeholder 2"/>
          <p:cNvSpPr>
            <a:spLocks noGrp="1"/>
          </p:cNvSpPr>
          <p:nvPr>
            <p:ph type="body" idx="1"/>
          </p:nvPr>
        </p:nvSpPr>
        <p:spPr/>
        <p:txBody>
          <a:bodyPr/>
          <a:lstStyle/>
          <a:p>
            <a:pPr>
              <a:buFont typeface="Wingdings" panose="05000000000000000000" pitchFamily="2" charset="2"/>
              <a:buChar char="Ø"/>
            </a:pPr>
            <a:r>
              <a:rPr lang="en-US" dirty="0" smtClean="0"/>
              <a:t>Content Index</a:t>
            </a:r>
          </a:p>
          <a:p>
            <a:pPr marL="958850" lvl="1" indent="-342900">
              <a:buFont typeface="+mj-lt"/>
              <a:buAutoNum type="arabicPeriod"/>
            </a:pPr>
            <a:r>
              <a:rPr lang="en-US" dirty="0" smtClean="0"/>
              <a:t>Introduction</a:t>
            </a:r>
          </a:p>
          <a:p>
            <a:pPr marL="958850" lvl="1" indent="-342900">
              <a:buFont typeface="+mj-lt"/>
              <a:buAutoNum type="arabicPeriod"/>
            </a:pPr>
            <a:r>
              <a:rPr lang="en-US" dirty="0" smtClean="0"/>
              <a:t>Objective</a:t>
            </a:r>
          </a:p>
          <a:p>
            <a:pPr marL="958850" lvl="1" indent="-342900">
              <a:buFont typeface="+mj-lt"/>
              <a:buAutoNum type="arabicPeriod"/>
            </a:pPr>
            <a:r>
              <a:rPr lang="en-US" dirty="0" smtClean="0"/>
              <a:t>Database Description</a:t>
            </a:r>
          </a:p>
          <a:p>
            <a:pPr marL="958850" lvl="1" indent="-342900">
              <a:buFont typeface="+mj-lt"/>
              <a:buAutoNum type="arabicPeriod"/>
            </a:pPr>
            <a:r>
              <a:rPr lang="en-US" dirty="0" smtClean="0"/>
              <a:t>Table Relationship</a:t>
            </a:r>
          </a:p>
          <a:p>
            <a:pPr marL="958850" lvl="1" indent="-342900">
              <a:buFont typeface="+mj-lt"/>
              <a:buAutoNum type="arabicPeriod"/>
            </a:pPr>
            <a:r>
              <a:rPr lang="en-US" dirty="0" smtClean="0"/>
              <a:t>Problem statement</a:t>
            </a:r>
          </a:p>
          <a:p>
            <a:pPr marL="958850" lvl="1" indent="-342900">
              <a:buFont typeface="+mj-lt"/>
              <a:buAutoNum type="arabicPeriod"/>
            </a:pPr>
            <a:r>
              <a:rPr lang="en-US" dirty="0" smtClean="0"/>
              <a:t>Queries |Results with visualization</a:t>
            </a:r>
          </a:p>
          <a:p>
            <a:pPr marL="958850" lvl="1" indent="-342900">
              <a:buFont typeface="+mj-lt"/>
              <a:buAutoNum type="arabicPeriod"/>
            </a:pPr>
            <a:r>
              <a:rPr lang="en-US" dirty="0" smtClean="0"/>
              <a:t>Recommendation</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60"/>
        <p:cNvGrpSpPr/>
        <p:nvPr/>
      </p:nvGrpSpPr>
      <p:grpSpPr>
        <a:xfrm>
          <a:off x="0" y="0"/>
          <a:ext cx="0" cy="0"/>
          <a:chOff x="0" y="0"/>
          <a:chExt cx="0" cy="0"/>
        </a:xfrm>
      </p:grpSpPr>
      <p:sp>
        <p:nvSpPr>
          <p:cNvPr id="361" name="Google Shape;361;p26"/>
          <p:cNvSpPr txBox="1">
            <a:spLocks noGrp="1"/>
          </p:cNvSpPr>
          <p:nvPr>
            <p:ph type="title"/>
          </p:nvPr>
        </p:nvSpPr>
        <p:spPr>
          <a:xfrm>
            <a:off x="697350" y="431775"/>
            <a:ext cx="7732200" cy="457200"/>
          </a:xfrm>
          <a:prstGeom prst="rect">
            <a:avLst/>
          </a:prstGeom>
        </p:spPr>
        <p:txBody>
          <a:bodyPr spcFirstLastPara="1" wrap="square" lIns="91425" tIns="91425" rIns="91425" bIns="91425" anchor="ctr" anchorCtr="0">
            <a:noAutofit/>
          </a:bodyPr>
          <a:lstStyle/>
          <a:p>
            <a:pPr lvl="0"/>
            <a:r>
              <a:rPr lang="en-US" dirty="0" smtClean="0">
                <a:solidFill>
                  <a:schemeClr val="lt1"/>
                </a:solidFill>
                <a:latin typeface="Calibri" panose="020F0502020204030204" pitchFamily="34" charset="0"/>
                <a:cs typeface="Calibri" panose="020F0502020204030204" pitchFamily="34" charset="0"/>
              </a:rPr>
              <a:t>Introduction</a:t>
            </a:r>
            <a:endParaRPr dirty="0">
              <a:solidFill>
                <a:schemeClr val="lt1"/>
              </a:solidFill>
              <a:latin typeface="Calibri" panose="020F0502020204030204" pitchFamily="34" charset="0"/>
              <a:cs typeface="Calibri" panose="020F0502020204030204" pitchFamily="34" charset="0"/>
            </a:endParaRPr>
          </a:p>
        </p:txBody>
      </p:sp>
      <p:sp>
        <p:nvSpPr>
          <p:cNvPr id="362" name="Google Shape;362;p26"/>
          <p:cNvSpPr txBox="1">
            <a:spLocks noGrp="1"/>
          </p:cNvSpPr>
          <p:nvPr>
            <p:ph type="body" idx="1"/>
          </p:nvPr>
        </p:nvSpPr>
        <p:spPr>
          <a:xfrm>
            <a:off x="714375" y="987391"/>
            <a:ext cx="7732200" cy="2560879"/>
          </a:xfrm>
          <a:prstGeom prst="rect">
            <a:avLst/>
          </a:prstGeom>
        </p:spPr>
        <p:txBody>
          <a:bodyPr spcFirstLastPara="1" wrap="square" lIns="91425" tIns="91425" rIns="91425" bIns="91425" anchor="t" anchorCtr="0">
            <a:noAutofit/>
          </a:bodyPr>
          <a:lstStyle/>
          <a:p>
            <a:pPr marL="0" lvl="0" indent="0">
              <a:buNone/>
            </a:pPr>
            <a:r>
              <a:rPr lang="en-US" sz="1600" dirty="0">
                <a:latin typeface="Calibri" panose="020F0502020204030204" pitchFamily="34" charset="0"/>
                <a:cs typeface="Calibri" panose="020F0502020204030204" pitchFamily="34" charset="0"/>
              </a:rPr>
              <a:t>Dataset consists of 4 relational tables: </a:t>
            </a:r>
            <a:r>
              <a:rPr lang="en-US" sz="1600" b="1" dirty="0">
                <a:latin typeface="Calibri" panose="020F0502020204030204" pitchFamily="34" charset="0"/>
                <a:cs typeface="Calibri" panose="020F0502020204030204" pitchFamily="34" charset="0"/>
              </a:rPr>
              <a:t>Customers</a:t>
            </a:r>
            <a:r>
              <a:rPr lang="en-US" sz="1600" dirty="0">
                <a:latin typeface="Calibri" panose="020F0502020204030204" pitchFamily="34" charset="0"/>
                <a:cs typeface="Calibri" panose="020F0502020204030204" pitchFamily="34" charset="0"/>
              </a:rPr>
              <a:t> – information about customers, </a:t>
            </a:r>
            <a:r>
              <a:rPr lang="en-US" sz="1600" b="1" dirty="0">
                <a:latin typeface="Calibri" panose="020F0502020204030204" pitchFamily="34" charset="0"/>
                <a:cs typeface="Calibri" panose="020F0502020204030204" pitchFamily="34" charset="0"/>
              </a:rPr>
              <a:t>Orders</a:t>
            </a:r>
            <a:r>
              <a:rPr lang="en-US" sz="1600" dirty="0">
                <a:latin typeface="Calibri" panose="020F0502020204030204" pitchFamily="34" charset="0"/>
                <a:cs typeface="Calibri" panose="020F0502020204030204" pitchFamily="34" charset="0"/>
              </a:rPr>
              <a:t> – order details, </a:t>
            </a:r>
            <a:r>
              <a:rPr lang="en-US" sz="1600" b="1" dirty="0">
                <a:latin typeface="Calibri" panose="020F0502020204030204" pitchFamily="34" charset="0"/>
                <a:cs typeface="Calibri" panose="020F0502020204030204" pitchFamily="34" charset="0"/>
              </a:rPr>
              <a:t>Order Details</a:t>
            </a:r>
            <a:r>
              <a:rPr lang="en-US" sz="1600" dirty="0">
                <a:latin typeface="Calibri" panose="020F0502020204030204" pitchFamily="34" charset="0"/>
                <a:cs typeface="Calibri" panose="020F0502020204030204" pitchFamily="34" charset="0"/>
              </a:rPr>
              <a:t> – item level order information, and </a:t>
            </a:r>
            <a:r>
              <a:rPr lang="en-US" sz="1600" b="1" dirty="0">
                <a:latin typeface="Calibri" panose="020F0502020204030204" pitchFamily="34" charset="0"/>
                <a:cs typeface="Calibri" panose="020F0502020204030204" pitchFamily="34" charset="0"/>
              </a:rPr>
              <a:t>Products</a:t>
            </a:r>
            <a:r>
              <a:rPr lang="en-US" sz="1600" dirty="0">
                <a:latin typeface="Calibri" panose="020F0502020204030204" pitchFamily="34" charset="0"/>
                <a:cs typeface="Calibri" panose="020F0502020204030204" pitchFamily="34" charset="0"/>
              </a:rPr>
              <a:t> – product catalog with pricing and category details. The goal of this case study is to practice data analysis using SQL by writing queries to explore customer behavior, product performance, and sales trends. The final outcome includes business insights that can support decision-making in areas like customer segmentation, product optimization, sales growth, and inventory management.</a:t>
            </a:r>
            <a:endParaRPr sz="16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60"/>
        <p:cNvGrpSpPr/>
        <p:nvPr/>
      </p:nvGrpSpPr>
      <p:grpSpPr>
        <a:xfrm>
          <a:off x="0" y="0"/>
          <a:ext cx="0" cy="0"/>
          <a:chOff x="0" y="0"/>
          <a:chExt cx="0" cy="0"/>
        </a:xfrm>
      </p:grpSpPr>
      <p:sp>
        <p:nvSpPr>
          <p:cNvPr id="361" name="Google Shape;361;p26"/>
          <p:cNvSpPr txBox="1">
            <a:spLocks noGrp="1"/>
          </p:cNvSpPr>
          <p:nvPr>
            <p:ph type="title"/>
          </p:nvPr>
        </p:nvSpPr>
        <p:spPr>
          <a:xfrm>
            <a:off x="697350" y="431775"/>
            <a:ext cx="7732200" cy="457200"/>
          </a:xfrm>
          <a:prstGeom prst="rect">
            <a:avLst/>
          </a:prstGeom>
        </p:spPr>
        <p:txBody>
          <a:bodyPr spcFirstLastPara="1" wrap="square" lIns="91425" tIns="91425" rIns="91425" bIns="91425" anchor="ctr" anchorCtr="0">
            <a:noAutofit/>
          </a:bodyPr>
          <a:lstStyle/>
          <a:p>
            <a:pPr lvl="0"/>
            <a:r>
              <a:rPr lang="en-IN" dirty="0">
                <a:latin typeface="Calibri" panose="020F0502020204030204" pitchFamily="34" charset="0"/>
                <a:cs typeface="Calibri" panose="020F0502020204030204" pitchFamily="34" charset="0"/>
              </a:rPr>
              <a:t>Project Objective</a:t>
            </a:r>
            <a:endParaRPr dirty="0">
              <a:solidFill>
                <a:schemeClr val="lt1"/>
              </a:solidFill>
              <a:latin typeface="Calibri" panose="020F0502020204030204" pitchFamily="34" charset="0"/>
              <a:cs typeface="Calibri" panose="020F0502020204030204" pitchFamily="34" charset="0"/>
            </a:endParaRPr>
          </a:p>
        </p:txBody>
      </p:sp>
      <p:sp>
        <p:nvSpPr>
          <p:cNvPr id="362" name="Google Shape;362;p26"/>
          <p:cNvSpPr txBox="1">
            <a:spLocks noGrp="1"/>
          </p:cNvSpPr>
          <p:nvPr>
            <p:ph type="body" idx="1"/>
          </p:nvPr>
        </p:nvSpPr>
        <p:spPr>
          <a:xfrm>
            <a:off x="714375" y="987391"/>
            <a:ext cx="7732200" cy="1097593"/>
          </a:xfrm>
          <a:prstGeom prst="rect">
            <a:avLst/>
          </a:prstGeom>
        </p:spPr>
        <p:txBody>
          <a:bodyPr spcFirstLastPara="1" wrap="square" lIns="91425" tIns="91425" rIns="91425" bIns="91425" anchor="t" anchorCtr="0">
            <a:noAutofit/>
          </a:bodyPr>
          <a:lstStyle/>
          <a:p>
            <a:pPr marL="0" indent="0">
              <a:buNone/>
            </a:pPr>
            <a:r>
              <a:rPr lang="en-US" sz="1400" dirty="0">
                <a:latin typeface="Calibri" panose="020F0502020204030204" pitchFamily="34" charset="0"/>
                <a:cs typeface="Calibri" panose="020F0502020204030204" pitchFamily="34" charset="0"/>
              </a:rPr>
              <a:t>The objective of this project is to leverage SQL for comprehensive analysis of e-commerce data.</a:t>
            </a:r>
          </a:p>
          <a:p>
            <a:pPr marL="0" indent="0">
              <a:buNone/>
            </a:pPr>
            <a:r>
              <a:rPr lang="en-US" sz="1400" dirty="0">
                <a:latin typeface="Calibri" panose="020F0502020204030204" pitchFamily="34" charset="0"/>
                <a:cs typeface="Calibri" panose="020F0502020204030204" pitchFamily="34" charset="0"/>
              </a:rPr>
              <a:t>• Efficient Data Analysis using SQL</a:t>
            </a:r>
          </a:p>
          <a:p>
            <a:pPr marL="0" indent="0">
              <a:buNone/>
            </a:pPr>
            <a:r>
              <a:rPr lang="en-US" sz="1400" dirty="0">
                <a:latin typeface="Calibri" panose="020F0502020204030204" pitchFamily="34" charset="0"/>
                <a:cs typeface="Calibri" panose="020F0502020204030204" pitchFamily="34" charset="0"/>
              </a:rPr>
              <a:t>• Customer Insights &amp; Sales Optimization</a:t>
            </a:r>
          </a:p>
          <a:p>
            <a:pPr marL="0" indent="0">
              <a:buNone/>
            </a:pPr>
            <a:r>
              <a:rPr lang="en-US" sz="1400" dirty="0">
                <a:latin typeface="Calibri" panose="020F0502020204030204" pitchFamily="34" charset="0"/>
                <a:cs typeface="Calibri" panose="020F0502020204030204" pitchFamily="34" charset="0"/>
              </a:rPr>
              <a:t>• Inventory and Product Management</a:t>
            </a:r>
          </a:p>
          <a:p>
            <a:pPr marL="0" lvl="0" indent="0" algn="l" rtl="0">
              <a:spcBef>
                <a:spcPts val="0"/>
              </a:spcBef>
              <a:spcAft>
                <a:spcPts val="0"/>
              </a:spcAft>
              <a:buNone/>
            </a:pPr>
            <a:endParaRPr dirty="0"/>
          </a:p>
          <a:p>
            <a:pPr marL="0" lvl="0" indent="0" algn="l" rtl="0">
              <a:spcBef>
                <a:spcPts val="0"/>
              </a:spcBef>
              <a:spcAft>
                <a:spcPts val="100"/>
              </a:spcAft>
              <a:buNone/>
            </a:pPr>
            <a:endParaRPr dirty="0"/>
          </a:p>
        </p:txBody>
      </p:sp>
    </p:spTree>
    <p:extLst>
      <p:ext uri="{BB962C8B-B14F-4D97-AF65-F5344CB8AC3E}">
        <p14:creationId xmlns:p14="http://schemas.microsoft.com/office/powerpoint/2010/main" val="37961395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7371" y="84512"/>
            <a:ext cx="4930417" cy="457200"/>
          </a:xfrm>
        </p:spPr>
        <p:txBody>
          <a:bodyPr/>
          <a:lstStyle/>
          <a:p>
            <a:r>
              <a:rPr lang="en-IN" dirty="0">
                <a:solidFill>
                  <a:schemeClr val="accent1">
                    <a:lumMod val="75000"/>
                  </a:schemeClr>
                </a:solidFill>
                <a:latin typeface="Calibri" panose="020F0502020204030204" pitchFamily="34" charset="0"/>
                <a:cs typeface="Calibri" panose="020F0502020204030204" pitchFamily="34" charset="0"/>
              </a:rPr>
              <a:t>Dataset Description</a:t>
            </a:r>
          </a:p>
        </p:txBody>
      </p:sp>
      <p:sp>
        <p:nvSpPr>
          <p:cNvPr id="3" name="Text Placeholder 2"/>
          <p:cNvSpPr>
            <a:spLocks noGrp="1"/>
          </p:cNvSpPr>
          <p:nvPr>
            <p:ph type="body" idx="1"/>
          </p:nvPr>
        </p:nvSpPr>
        <p:spPr>
          <a:xfrm>
            <a:off x="1626403" y="1087095"/>
            <a:ext cx="2178985" cy="1047280"/>
          </a:xfrm>
        </p:spPr>
        <p:txBody>
          <a:bodyPr/>
          <a:lstStyle/>
          <a:p>
            <a:r>
              <a:rPr lang="en-IN" sz="1600" dirty="0" smtClean="0">
                <a:latin typeface="Calibri" panose="020F0502020204030204" pitchFamily="34" charset="0"/>
                <a:cs typeface="Calibri" panose="020F0502020204030204" pitchFamily="34" charset="0"/>
              </a:rPr>
              <a:t>Customers</a:t>
            </a: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customer_id</a:t>
            </a: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name, </a:t>
            </a: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location</a:t>
            </a:r>
            <a:endParaRPr lang="en-IN" sz="1600" dirty="0">
              <a:latin typeface="Calibri" panose="020F0502020204030204" pitchFamily="34" charset="0"/>
              <a:cs typeface="Calibri" panose="020F0502020204030204" pitchFamily="34" charset="0"/>
            </a:endParaRPr>
          </a:p>
        </p:txBody>
      </p:sp>
      <p:sp>
        <p:nvSpPr>
          <p:cNvPr id="5" name="Title 1"/>
          <p:cNvSpPr txBox="1">
            <a:spLocks/>
          </p:cNvSpPr>
          <p:nvPr/>
        </p:nvSpPr>
        <p:spPr>
          <a:xfrm>
            <a:off x="2106641" y="531167"/>
            <a:ext cx="4930417"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2400"/>
              <a:buFont typeface="Montserrat"/>
              <a:buNone/>
              <a:defRPr sz="3000" b="1"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2pPr>
            <a:lvl3pPr marR="0" lvl="2"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3pPr>
            <a:lvl4pPr marR="0" lvl="3"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4pPr>
            <a:lvl5pPr marR="0" lvl="4"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5pPr>
            <a:lvl6pPr marR="0" lvl="5"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6pPr>
            <a:lvl7pPr marR="0" lvl="6"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7pPr>
            <a:lvl8pPr marR="0" lvl="7"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8pPr>
            <a:lvl9pPr marR="0" lvl="8" algn="l" rtl="0">
              <a:lnSpc>
                <a:spcPct val="100000"/>
              </a:lnSpc>
              <a:spcBef>
                <a:spcPts val="0"/>
              </a:spcBef>
              <a:spcAft>
                <a:spcPts val="0"/>
              </a:spcAft>
              <a:buClr>
                <a:schemeClr val="accent1"/>
              </a:buClr>
              <a:buSzPts val="2400"/>
              <a:buFont typeface="Lobster Two"/>
              <a:buNone/>
              <a:defRPr sz="2400" b="1" i="0" u="none" strike="noStrike" cap="none">
                <a:solidFill>
                  <a:schemeClr val="accent1"/>
                </a:solidFill>
                <a:latin typeface="Lobster Two"/>
                <a:ea typeface="Lobster Two"/>
                <a:cs typeface="Lobster Two"/>
                <a:sym typeface="Lobster Two"/>
              </a:defRPr>
            </a:lvl9pPr>
          </a:lstStyle>
          <a:p>
            <a:r>
              <a:rPr lang="en-US" sz="2000" b="0" dirty="0">
                <a:latin typeface="Calibri" panose="020F0502020204030204" pitchFamily="34" charset="0"/>
                <a:cs typeface="Calibri" panose="020F0502020204030204" pitchFamily="34" charset="0"/>
              </a:rPr>
              <a:t>The dataset includes the following tables</a:t>
            </a:r>
            <a:endParaRPr lang="en-IN" sz="2000" b="0" dirty="0">
              <a:latin typeface="Calibri" panose="020F0502020204030204" pitchFamily="34" charset="0"/>
              <a:cs typeface="Calibri" panose="020F0502020204030204" pitchFamily="34" charset="0"/>
            </a:endParaRPr>
          </a:p>
        </p:txBody>
      </p:sp>
      <p:sp>
        <p:nvSpPr>
          <p:cNvPr id="7" name="Text Placeholder 2"/>
          <p:cNvSpPr>
            <a:spLocks noGrp="1"/>
          </p:cNvSpPr>
          <p:nvPr>
            <p:ph type="body" idx="1"/>
          </p:nvPr>
        </p:nvSpPr>
        <p:spPr>
          <a:xfrm>
            <a:off x="5060015" y="1087095"/>
            <a:ext cx="2178985" cy="1328114"/>
          </a:xfrm>
        </p:spPr>
        <p:txBody>
          <a:bodyPr/>
          <a:lstStyle/>
          <a:p>
            <a:r>
              <a:rPr lang="en-IN" sz="1600" dirty="0" smtClean="0">
                <a:latin typeface="Calibri" panose="020F0502020204030204" pitchFamily="34" charset="0"/>
                <a:cs typeface="Calibri" panose="020F0502020204030204" pitchFamily="34" charset="0"/>
              </a:rPr>
              <a:t>Products</a:t>
            </a:r>
          </a:p>
          <a:p>
            <a:pPr>
              <a:buFont typeface="Wingdings" panose="05000000000000000000" pitchFamily="2" charset="2"/>
              <a:buChar char="Ø"/>
            </a:pPr>
            <a:r>
              <a:rPr lang="en-IN" sz="1600" dirty="0">
                <a:latin typeface="Calibri" panose="020F0502020204030204" pitchFamily="34" charset="0"/>
                <a:cs typeface="Calibri" panose="020F0502020204030204" pitchFamily="34" charset="0"/>
              </a:rPr>
              <a:t> </a:t>
            </a:r>
            <a:r>
              <a:rPr lang="en-IN" sz="1600" dirty="0" err="1" smtClean="0">
                <a:latin typeface="Calibri" panose="020F0502020204030204" pitchFamily="34" charset="0"/>
                <a:cs typeface="Calibri" panose="020F0502020204030204" pitchFamily="34" charset="0"/>
              </a:rPr>
              <a:t>product_id</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 name</a:t>
            </a:r>
            <a:r>
              <a:rPr lang="en-IN" sz="1600" dirty="0">
                <a:latin typeface="Calibri" panose="020F0502020204030204" pitchFamily="34" charset="0"/>
                <a:cs typeface="Calibri" panose="020F0502020204030204" pitchFamily="34" charset="0"/>
              </a:rPr>
              <a:t>, </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 category</a:t>
            </a:r>
            <a:r>
              <a:rPr lang="en-IN" sz="1600" dirty="0">
                <a:latin typeface="Calibri" panose="020F0502020204030204" pitchFamily="34" charset="0"/>
                <a:cs typeface="Calibri" panose="020F0502020204030204" pitchFamily="34" charset="0"/>
              </a:rPr>
              <a:t>, </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  price</a:t>
            </a:r>
            <a:endParaRPr lang="en-IN" sz="1600" dirty="0">
              <a:latin typeface="Calibri" panose="020F0502020204030204" pitchFamily="34" charset="0"/>
              <a:cs typeface="Calibri" panose="020F0502020204030204" pitchFamily="34" charset="0"/>
            </a:endParaRPr>
          </a:p>
        </p:txBody>
      </p:sp>
      <p:sp>
        <p:nvSpPr>
          <p:cNvPr id="8" name="Text Placeholder 2"/>
          <p:cNvSpPr>
            <a:spLocks noGrp="1"/>
          </p:cNvSpPr>
          <p:nvPr>
            <p:ph type="body" idx="1"/>
          </p:nvPr>
        </p:nvSpPr>
        <p:spPr>
          <a:xfrm>
            <a:off x="1725794" y="2591575"/>
            <a:ext cx="2178985" cy="1328114"/>
          </a:xfrm>
        </p:spPr>
        <p:txBody>
          <a:bodyPr/>
          <a:lstStyle/>
          <a:p>
            <a:r>
              <a:rPr lang="en-IN" sz="1600" dirty="0" smtClean="0">
                <a:latin typeface="Calibri" panose="020F0502020204030204" pitchFamily="34" charset="0"/>
                <a:cs typeface="Calibri" panose="020F0502020204030204" pitchFamily="34" charset="0"/>
              </a:rPr>
              <a:t>Orders</a:t>
            </a:r>
          </a:p>
          <a:p>
            <a:pPr>
              <a:buFont typeface="Wingdings" panose="05000000000000000000" pitchFamily="2" charset="2"/>
              <a:buChar char="Ø"/>
            </a:pPr>
            <a:r>
              <a:rPr lang="en-IN" sz="1600" dirty="0" err="1" smtClean="0">
                <a:latin typeface="Calibri" panose="020F0502020204030204" pitchFamily="34" charset="0"/>
                <a:cs typeface="Calibri" panose="020F0502020204030204" pitchFamily="34" charset="0"/>
              </a:rPr>
              <a:t>order_id</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err="1" smtClean="0">
                <a:latin typeface="Calibri" panose="020F0502020204030204" pitchFamily="34" charset="0"/>
                <a:cs typeface="Calibri" panose="020F0502020204030204" pitchFamily="34" charset="0"/>
              </a:rPr>
              <a:t>order_date</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customer_id</a:t>
            </a:r>
          </a:p>
          <a:p>
            <a:pPr>
              <a:buFont typeface="Wingdings" panose="05000000000000000000" pitchFamily="2" charset="2"/>
              <a:buChar char="Ø"/>
            </a:pPr>
            <a:r>
              <a:rPr lang="en-IN" sz="1600" dirty="0" err="1" smtClean="0">
                <a:latin typeface="Calibri" panose="020F0502020204030204" pitchFamily="34" charset="0"/>
                <a:cs typeface="Calibri" panose="020F0502020204030204" pitchFamily="34" charset="0"/>
              </a:rPr>
              <a:t>total_amount</a:t>
            </a:r>
            <a:endParaRPr lang="en-IN" sz="1600" dirty="0">
              <a:latin typeface="Calibri" panose="020F0502020204030204" pitchFamily="34" charset="0"/>
              <a:cs typeface="Calibri" panose="020F0502020204030204" pitchFamily="34" charset="0"/>
            </a:endParaRPr>
          </a:p>
        </p:txBody>
      </p:sp>
      <p:sp>
        <p:nvSpPr>
          <p:cNvPr id="9" name="Text Placeholder 2"/>
          <p:cNvSpPr>
            <a:spLocks noGrp="1"/>
          </p:cNvSpPr>
          <p:nvPr>
            <p:ph type="body" idx="1"/>
          </p:nvPr>
        </p:nvSpPr>
        <p:spPr>
          <a:xfrm>
            <a:off x="5060014" y="2591575"/>
            <a:ext cx="2178985" cy="1328114"/>
          </a:xfrm>
        </p:spPr>
        <p:txBody>
          <a:bodyPr/>
          <a:lstStyle/>
          <a:p>
            <a:r>
              <a:rPr lang="en-IN" sz="1600" dirty="0" err="1" smtClean="0">
                <a:latin typeface="Calibri" panose="020F0502020204030204" pitchFamily="34" charset="0"/>
                <a:cs typeface="Calibri" panose="020F0502020204030204" pitchFamily="34" charset="0"/>
              </a:rPr>
              <a:t>OrderDetails</a:t>
            </a:r>
            <a:endParaRPr lang="en-IN" sz="1600" dirty="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err="1" smtClean="0">
                <a:latin typeface="Calibri" panose="020F0502020204030204" pitchFamily="34" charset="0"/>
                <a:cs typeface="Calibri" panose="020F0502020204030204" pitchFamily="34" charset="0"/>
              </a:rPr>
              <a:t>order_id</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err="1" smtClean="0">
                <a:latin typeface="Calibri" panose="020F0502020204030204" pitchFamily="34" charset="0"/>
                <a:cs typeface="Calibri" panose="020F0502020204030204" pitchFamily="34" charset="0"/>
              </a:rPr>
              <a:t>product_id</a:t>
            </a:r>
            <a:endParaRPr lang="en-IN" sz="1600" dirty="0" smtClean="0">
              <a:latin typeface="Calibri" panose="020F0502020204030204" pitchFamily="34" charset="0"/>
              <a:cs typeface="Calibri" panose="020F0502020204030204" pitchFamily="34" charset="0"/>
            </a:endParaRPr>
          </a:p>
          <a:p>
            <a:pPr>
              <a:buFont typeface="Wingdings" panose="05000000000000000000" pitchFamily="2" charset="2"/>
              <a:buChar char="Ø"/>
            </a:pPr>
            <a:r>
              <a:rPr lang="en-IN" sz="1600" dirty="0" smtClean="0">
                <a:latin typeface="Calibri" panose="020F0502020204030204" pitchFamily="34" charset="0"/>
                <a:cs typeface="Calibri" panose="020F0502020204030204" pitchFamily="34" charset="0"/>
              </a:rPr>
              <a:t>Quantity</a:t>
            </a:r>
          </a:p>
          <a:p>
            <a:pPr>
              <a:buFont typeface="Wingdings" panose="05000000000000000000" pitchFamily="2" charset="2"/>
              <a:buChar char="Ø"/>
            </a:pPr>
            <a:r>
              <a:rPr lang="en-IN" sz="1600" dirty="0" err="1" smtClean="0">
                <a:latin typeface="Calibri" panose="020F0502020204030204" pitchFamily="34" charset="0"/>
                <a:cs typeface="Calibri" panose="020F0502020204030204" pitchFamily="34" charset="0"/>
              </a:rPr>
              <a:t>price_per_unit</a:t>
            </a:r>
            <a:endParaRPr lang="en-IN" sz="1600" dirty="0">
              <a:latin typeface="Calibri" panose="020F0502020204030204" pitchFamily="34" charset="0"/>
              <a:cs typeface="Calibri" panose="020F0502020204030204" pitchFamily="34" charset="0"/>
            </a:endParaRP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3390525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42"/>
        <p:cNvGrpSpPr/>
        <p:nvPr/>
      </p:nvGrpSpPr>
      <p:grpSpPr>
        <a:xfrm>
          <a:off x="0" y="0"/>
          <a:ext cx="0" cy="0"/>
          <a:chOff x="0" y="0"/>
          <a:chExt cx="0" cy="0"/>
        </a:xfrm>
      </p:grpSpPr>
      <p:sp>
        <p:nvSpPr>
          <p:cNvPr id="1144" name="Google Shape;1144;p28"/>
          <p:cNvSpPr txBox="1">
            <a:spLocks noGrp="1"/>
          </p:cNvSpPr>
          <p:nvPr>
            <p:ph type="ctrTitle"/>
          </p:nvPr>
        </p:nvSpPr>
        <p:spPr>
          <a:xfrm>
            <a:off x="3018870" y="482923"/>
            <a:ext cx="602284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solidFill>
                  <a:schemeClr val="lt1"/>
                </a:solidFill>
              </a:rPr>
              <a:t>Entity Relationship Diagram</a:t>
            </a:r>
            <a:endParaRPr dirty="0">
              <a:solidFill>
                <a:schemeClr val="lt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369"/>
        <p:cNvGrpSpPr/>
        <p:nvPr/>
      </p:nvGrpSpPr>
      <p:grpSpPr>
        <a:xfrm>
          <a:off x="0" y="0"/>
          <a:ext cx="0" cy="0"/>
          <a:chOff x="0" y="0"/>
          <a:chExt cx="0" cy="0"/>
        </a:xfrm>
      </p:grpSpPr>
      <p:sp>
        <p:nvSpPr>
          <p:cNvPr id="3370" name="Google Shape;3370;p51"/>
          <p:cNvSpPr txBox="1">
            <a:spLocks noGrp="1"/>
          </p:cNvSpPr>
          <p:nvPr>
            <p:ph type="title"/>
          </p:nvPr>
        </p:nvSpPr>
        <p:spPr>
          <a:xfrm>
            <a:off x="2245635" y="0"/>
            <a:ext cx="5155704" cy="38431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400" dirty="0" smtClean="0">
                <a:solidFill>
                  <a:schemeClr val="accent2">
                    <a:lumMod val="60000"/>
                    <a:lumOff val="40000"/>
                  </a:schemeClr>
                </a:solidFill>
                <a:latin typeface="Calibri" panose="020F0502020204030204" pitchFamily="34" charset="0"/>
                <a:cs typeface="Calibri" panose="020F0502020204030204" pitchFamily="34" charset="0"/>
              </a:rPr>
              <a:t>Problem </a:t>
            </a:r>
            <a:r>
              <a:rPr lang="en-US" sz="1400" dirty="0" smtClean="0">
                <a:solidFill>
                  <a:schemeClr val="accent2">
                    <a:lumMod val="60000"/>
                    <a:lumOff val="40000"/>
                  </a:schemeClr>
                </a:solidFill>
                <a:latin typeface="Calibri" panose="020F0502020204030204" pitchFamily="34" charset="0"/>
                <a:cs typeface="Calibri" panose="020F0502020204030204" pitchFamily="34" charset="0"/>
              </a:rPr>
              <a:t>of Statement</a:t>
            </a:r>
            <a:endParaRPr sz="1400" dirty="0">
              <a:solidFill>
                <a:schemeClr val="accent2">
                  <a:lumMod val="60000"/>
                  <a:lumOff val="40000"/>
                </a:schemeClr>
              </a:solidFill>
              <a:latin typeface="Calibri" panose="020F0502020204030204" pitchFamily="34" charset="0"/>
              <a:cs typeface="Calibri" panose="020F0502020204030204" pitchFamily="34" charset="0"/>
            </a:endParaRPr>
          </a:p>
        </p:txBody>
      </p:sp>
      <p:sp>
        <p:nvSpPr>
          <p:cNvPr id="3" name="Text Placeholder 2"/>
          <p:cNvSpPr>
            <a:spLocks noGrp="1"/>
          </p:cNvSpPr>
          <p:nvPr>
            <p:ph type="body" idx="1"/>
          </p:nvPr>
        </p:nvSpPr>
        <p:spPr>
          <a:xfrm>
            <a:off x="0" y="284922"/>
            <a:ext cx="9144000" cy="4858578"/>
          </a:xfrm>
        </p:spPr>
        <p:txBody>
          <a:bodyPr/>
          <a:lstStyle/>
          <a:p>
            <a:pPr marL="958850" lvl="1" indent="-342900">
              <a:buSzPct val="100000"/>
              <a:buFont typeface="+mj-lt"/>
              <a:buAutoNum type="arabicParenR"/>
            </a:pPr>
            <a:r>
              <a:rPr lang="en-US" sz="1050" dirty="0" smtClean="0">
                <a:latin typeface="Calibri" panose="020F0502020204030204" pitchFamily="34" charset="0"/>
                <a:cs typeface="Calibri" panose="020F0502020204030204" pitchFamily="34" charset="0"/>
              </a:rPr>
              <a:t>Identify the top 3 cities with the highest number of customers to determine key markets for targeted marketing and logistic optimization. </a:t>
            </a:r>
            <a:r>
              <a:rPr lang="en-US" sz="1050" dirty="0" smtClean="0">
                <a:latin typeface="Calibri" panose="020F0502020204030204" pitchFamily="34" charset="0"/>
                <a:cs typeface="Calibri" panose="020F0502020204030204" pitchFamily="34" charset="0"/>
              </a:rPr>
              <a:t>Objective</a:t>
            </a:r>
          </a:p>
          <a:p>
            <a:pPr marL="958850" lvl="1" indent="-342900">
              <a:buSzPct val="100000"/>
              <a:buFont typeface="+mj-lt"/>
              <a:buAutoNum type="arabicParenR"/>
            </a:pPr>
            <a:r>
              <a:rPr lang="en-US" sz="1050" dirty="0" smtClean="0">
                <a:latin typeface="Calibri" panose="020F0502020204030204" pitchFamily="34" charset="0"/>
                <a:cs typeface="Calibri" panose="020F0502020204030204" pitchFamily="34" charset="0"/>
              </a:rPr>
              <a:t>Determine the distribution of customers by the number of orders placed. This insight will help in segmenting customers into one-time buyers, occasional shoppers, and regular customers for tailored marketing strategies</a:t>
            </a:r>
            <a:endParaRPr lang="en-US" sz="1050" dirty="0" smtClean="0">
              <a:latin typeface="Calibri" panose="020F0502020204030204" pitchFamily="34" charset="0"/>
              <a:cs typeface="Calibri" panose="020F0502020204030204" pitchFamily="34" charset="0"/>
            </a:endParaRPr>
          </a:p>
          <a:p>
            <a:pPr marL="958850" lvl="1" indent="-342900">
              <a:buSzPct val="100000"/>
              <a:buFont typeface="+mj-lt"/>
              <a:buAutoNum type="arabicParenR"/>
            </a:pPr>
            <a:r>
              <a:rPr lang="en-US" sz="1050" dirty="0" smtClean="0">
                <a:latin typeface="Calibri" panose="020F0502020204030204" pitchFamily="34" charset="0"/>
                <a:cs typeface="Calibri" panose="020F0502020204030204" pitchFamily="34" charset="0"/>
              </a:rPr>
              <a:t>Identify products where the average purchase quantity per order is 2 but with a high total revenue, suggesting premium product Trend</a:t>
            </a:r>
          </a:p>
          <a:p>
            <a:pPr marL="958850" lvl="1" indent="-342900">
              <a:buSzPct val="100000"/>
              <a:buFont typeface="+mj-lt"/>
              <a:buAutoNum type="arabicParenR"/>
            </a:pPr>
            <a:r>
              <a:rPr lang="en-US" sz="1050" dirty="0" smtClean="0">
                <a:latin typeface="Calibri" panose="020F0502020204030204" pitchFamily="34" charset="0"/>
                <a:cs typeface="Calibri" panose="020F0502020204030204" pitchFamily="34" charset="0"/>
              </a:rPr>
              <a:t>For each product category, calculate the unique number of customers purchasing from it. This will help understand which categories have wider appeal across the customer base.</a:t>
            </a:r>
          </a:p>
          <a:p>
            <a:pPr marL="958850" lvl="1" indent="-342900">
              <a:buSzPct val="100000"/>
              <a:buFont typeface="+mj-lt"/>
              <a:buAutoNum type="arabicParenR"/>
            </a:pPr>
            <a:r>
              <a:rPr lang="en-US" sz="1050" dirty="0">
                <a:latin typeface="Calibri" panose="020F0502020204030204" pitchFamily="34" charset="0"/>
                <a:cs typeface="Calibri" panose="020F0502020204030204" pitchFamily="34" charset="0"/>
              </a:rPr>
              <a:t>Analyze the month-on-month percentage change in total sales to identify growth trends</a:t>
            </a:r>
            <a:r>
              <a:rPr lang="en-US" sz="1050" dirty="0" smtClean="0">
                <a:latin typeface="Calibri" panose="020F0502020204030204" pitchFamily="34" charset="0"/>
                <a:cs typeface="Calibri" panose="020F0502020204030204" pitchFamily="34" charset="0"/>
              </a:rPr>
              <a:t>.</a:t>
            </a:r>
          </a:p>
          <a:p>
            <a:pPr marL="958850" lvl="1" indent="-342900">
              <a:buSzPct val="100000"/>
              <a:buFont typeface="+mj-lt"/>
              <a:buAutoNum type="arabicParenR"/>
            </a:pPr>
            <a:r>
              <a:rPr lang="en-US" sz="1050" dirty="0">
                <a:latin typeface="Calibri" panose="020F0502020204030204" pitchFamily="34" charset="0"/>
                <a:cs typeface="Calibri" panose="020F0502020204030204" pitchFamily="34" charset="0"/>
              </a:rPr>
              <a:t>Examine how the average order value changes month-on-month. Insights can guide pricing and promotional strategies to enhance order value</a:t>
            </a:r>
            <a:r>
              <a:rPr lang="en-US" sz="1050" dirty="0" smtClean="0">
                <a:latin typeface="Calibri" panose="020F0502020204030204" pitchFamily="34" charset="0"/>
                <a:cs typeface="Calibri" panose="020F0502020204030204" pitchFamily="34" charset="0"/>
              </a:rPr>
              <a:t>.</a:t>
            </a:r>
          </a:p>
          <a:p>
            <a:pPr marL="958850" lvl="1" indent="-342900">
              <a:buSzPct val="100000"/>
              <a:buFont typeface="+mj-lt"/>
              <a:buAutoNum type="arabicParenR"/>
            </a:pPr>
            <a:r>
              <a:rPr lang="en-US" sz="1050" dirty="0">
                <a:latin typeface="Calibri" panose="020F0502020204030204" pitchFamily="34" charset="0"/>
                <a:cs typeface="Calibri" panose="020F0502020204030204" pitchFamily="34" charset="0"/>
              </a:rPr>
              <a:t>Based on sales data, identify products with the fastest turnover rates, suggesting high demand and the need for frequent restocking.</a:t>
            </a:r>
          </a:p>
          <a:p>
            <a:pPr marL="958850" lvl="1" indent="-342900">
              <a:buSzPct val="100000"/>
              <a:buFont typeface="+mj-lt"/>
              <a:buAutoNum type="arabicParenR"/>
            </a:pPr>
            <a:r>
              <a:rPr lang="en-US" sz="1050" dirty="0">
                <a:latin typeface="Calibri" panose="020F0502020204030204" pitchFamily="34" charset="0"/>
                <a:cs typeface="Calibri" panose="020F0502020204030204" pitchFamily="34" charset="0"/>
              </a:rPr>
              <a:t>List products purchased by less than 40% of the customer base, indicating potential mismatches between inventory and customer interest</a:t>
            </a:r>
            <a:r>
              <a:rPr lang="en-US" sz="1050" dirty="0" smtClean="0">
                <a:latin typeface="Calibri" panose="020F0502020204030204" pitchFamily="34" charset="0"/>
                <a:cs typeface="Calibri" panose="020F0502020204030204" pitchFamily="34" charset="0"/>
              </a:rPr>
              <a:t>.</a:t>
            </a:r>
          </a:p>
          <a:p>
            <a:pPr marL="958850" lvl="1" indent="-342900">
              <a:buSzPct val="100000"/>
              <a:buFont typeface="+mj-lt"/>
              <a:buAutoNum type="arabicParenR"/>
            </a:pPr>
            <a:r>
              <a:rPr lang="en-US" sz="1050" dirty="0">
                <a:latin typeface="Calibri" panose="020F0502020204030204" pitchFamily="34" charset="0"/>
                <a:cs typeface="Calibri" panose="020F0502020204030204" pitchFamily="34" charset="0"/>
              </a:rPr>
              <a:t>Evaluate the month-on-month growth rate in the customer base to understand the effectiveness of marketing campaigns and market expansion efforts</a:t>
            </a:r>
            <a:r>
              <a:rPr lang="en-US" sz="1050" dirty="0" smtClean="0">
                <a:latin typeface="Calibri" panose="020F0502020204030204" pitchFamily="34" charset="0"/>
                <a:cs typeface="Calibri" panose="020F0502020204030204" pitchFamily="34" charset="0"/>
              </a:rPr>
              <a:t>.</a:t>
            </a:r>
          </a:p>
          <a:p>
            <a:pPr marL="958850" lvl="1" indent="-342900">
              <a:buSzPct val="100000"/>
              <a:buFont typeface="+mj-lt"/>
              <a:buAutoNum type="arabicParenR"/>
            </a:pPr>
            <a:r>
              <a:rPr lang="en-US" sz="1050" dirty="0">
                <a:latin typeface="Calibri" panose="020F0502020204030204" pitchFamily="34" charset="0"/>
                <a:cs typeface="Calibri" panose="020F0502020204030204" pitchFamily="34" charset="0"/>
              </a:rPr>
              <a:t>Identify the months with the highest sales volume, aiding in planning for stock levels, marketing efforts, and staffing in anticipation </a:t>
            </a:r>
            <a:r>
              <a:rPr lang="en-US" sz="1050" dirty="0" smtClean="0">
                <a:latin typeface="Calibri" panose="020F0502020204030204" pitchFamily="34" charset="0"/>
                <a:cs typeface="Calibri" panose="020F0502020204030204" pitchFamily="34" charset="0"/>
              </a:rPr>
              <a:t>of </a:t>
            </a:r>
            <a:r>
              <a:rPr lang="en-US" sz="1050" dirty="0">
                <a:latin typeface="Calibri" panose="020F0502020204030204" pitchFamily="34" charset="0"/>
                <a:cs typeface="Calibri" panose="020F0502020204030204" pitchFamily="34" charset="0"/>
              </a:rPr>
              <a:t>peak </a:t>
            </a:r>
            <a:r>
              <a:rPr lang="en-US" sz="1050" dirty="0" smtClean="0">
                <a:latin typeface="Calibri" panose="020F0502020204030204" pitchFamily="34" charset="0"/>
                <a:cs typeface="Calibri" panose="020F0502020204030204" pitchFamily="34" charset="0"/>
              </a:rPr>
              <a:t>demand </a:t>
            </a:r>
            <a:r>
              <a:rPr lang="en-US" sz="1050" dirty="0">
                <a:latin typeface="Calibri" panose="020F0502020204030204" pitchFamily="34" charset="0"/>
                <a:cs typeface="Calibri" panose="020F0502020204030204" pitchFamily="34" charset="0"/>
              </a:rPr>
              <a:t>periods.</a:t>
            </a:r>
          </a:p>
          <a:p>
            <a:pPr marL="958850" lvl="1" indent="-342900">
              <a:buSzPct val="100000"/>
              <a:buFont typeface="+mj-lt"/>
              <a:buAutoNum type="arabicParenR"/>
            </a:pPr>
            <a:endParaRPr lang="en-US" sz="1050" dirty="0">
              <a:latin typeface="Calibri" panose="020F0502020204030204" pitchFamily="34" charset="0"/>
              <a:cs typeface="Calibri" panose="020F0502020204030204" pitchFamily="34" charset="0"/>
            </a:endParaRPr>
          </a:p>
          <a:p>
            <a:pPr marL="958850" lvl="1" indent="-342900">
              <a:buSzPct val="100000"/>
              <a:buFont typeface="+mj-lt"/>
              <a:buAutoNum type="arabicParenR"/>
            </a:pPr>
            <a:endParaRPr lang="en-US" sz="1050" dirty="0">
              <a:latin typeface="Calibri" panose="020F0502020204030204" pitchFamily="34" charset="0"/>
              <a:cs typeface="Calibri" panose="020F0502020204030204" pitchFamily="34" charset="0"/>
            </a:endParaRPr>
          </a:p>
          <a:p>
            <a:pPr marL="958850" lvl="1" indent="-342900">
              <a:buSzPct val="100000"/>
              <a:buFont typeface="+mj-lt"/>
              <a:buAutoNum type="arabicParenR"/>
            </a:pPr>
            <a:endParaRPr lang="en-US" dirty="0"/>
          </a:p>
          <a:p>
            <a:pPr marL="958850" lvl="1" indent="-342900">
              <a:buSzPct val="100000"/>
              <a:buFont typeface="+mj-lt"/>
              <a:buAutoNum type="arabicParenR"/>
            </a:pPr>
            <a:endParaRPr lang="en-US" dirty="0"/>
          </a:p>
          <a:p>
            <a:pPr marL="958850" lvl="1" indent="-342900">
              <a:buSzPct val="100000"/>
              <a:buFont typeface="+mj-lt"/>
              <a:buAutoNum type="arabicParenR"/>
            </a:pPr>
            <a:endParaRPr lang="en-US" dirty="0" smtClean="0"/>
          </a:p>
          <a:p>
            <a:pPr marL="958850" lvl="1" indent="-342900">
              <a:buSzPct val="100000"/>
              <a:buFont typeface="+mj-lt"/>
              <a:buAutoNum type="arabicParenR"/>
            </a:pPr>
            <a:endParaRPr lang="en-US" dirty="0"/>
          </a:p>
          <a:p>
            <a:pPr marL="958850" lvl="1" indent="-342900">
              <a:buSzPct val="100000"/>
              <a:buFont typeface="+mj-lt"/>
              <a:buAutoNum type="arabicParenR"/>
            </a:pPr>
            <a:endParaRPr lang="en-US" dirty="0" smtClean="0"/>
          </a:p>
          <a:p>
            <a:pPr marL="958850" lvl="1" indent="-342900">
              <a:buSzPct val="100000"/>
              <a:buFont typeface="+mj-lt"/>
              <a:buAutoNum type="arabicParenR"/>
            </a:pPr>
            <a:r>
              <a:rPr lang="en-US" dirty="0" smtClean="0"/>
              <a:t/>
            </a:r>
            <a:br>
              <a:rPr lang="en-US" dirty="0" smtClean="0"/>
            </a:br>
            <a:endParaRPr lang="en-US" dirty="0" smtClean="0"/>
          </a:p>
          <a:p>
            <a:endParaRPr lang="en-US" dirty="0"/>
          </a:p>
        </p:txBody>
      </p:sp>
    </p:spTree>
    <p:extLst>
      <p:ext uri="{BB962C8B-B14F-4D97-AF65-F5344CB8AC3E}">
        <p14:creationId xmlns:p14="http://schemas.microsoft.com/office/powerpoint/2010/main" val="2758203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60"/>
        <p:cNvGrpSpPr/>
        <p:nvPr/>
      </p:nvGrpSpPr>
      <p:grpSpPr>
        <a:xfrm>
          <a:off x="0" y="0"/>
          <a:ext cx="0" cy="0"/>
          <a:chOff x="0" y="0"/>
          <a:chExt cx="0" cy="0"/>
        </a:xfrm>
      </p:grpSpPr>
      <p:sp>
        <p:nvSpPr>
          <p:cNvPr id="361" name="Google Shape;361;p26"/>
          <p:cNvSpPr txBox="1">
            <a:spLocks noGrp="1"/>
          </p:cNvSpPr>
          <p:nvPr>
            <p:ph type="title"/>
          </p:nvPr>
        </p:nvSpPr>
        <p:spPr>
          <a:xfrm>
            <a:off x="1" y="0"/>
            <a:ext cx="894522" cy="277216"/>
          </a:xfrm>
          <a:prstGeom prst="rect">
            <a:avLst/>
          </a:prstGeom>
        </p:spPr>
        <p:txBody>
          <a:bodyPr spcFirstLastPara="1" wrap="square" lIns="91425" tIns="91425" rIns="91425" bIns="91425" anchor="ctr" anchorCtr="0">
            <a:noAutofit/>
          </a:bodyPr>
          <a:lstStyle/>
          <a:p>
            <a:pPr lvl="0"/>
            <a:r>
              <a:rPr lang="en-US" sz="1200" dirty="0" smtClean="0">
                <a:solidFill>
                  <a:schemeClr val="lt1"/>
                </a:solidFill>
                <a:latin typeface="Calibri" panose="020F0502020204030204" pitchFamily="34" charset="0"/>
                <a:cs typeface="Calibri" panose="020F0502020204030204" pitchFamily="34" charset="0"/>
              </a:rPr>
              <a:t>Query 1  </a:t>
            </a:r>
            <a:endParaRPr sz="1200" dirty="0">
              <a:solidFill>
                <a:schemeClr val="lt1"/>
              </a:solidFill>
              <a:latin typeface="Calibri" panose="020F0502020204030204" pitchFamily="34" charset="0"/>
              <a:cs typeface="Calibri" panose="020F0502020204030204" pitchFamily="34" charset="0"/>
            </a:endParaRPr>
          </a:p>
        </p:txBody>
      </p:sp>
      <p:sp>
        <p:nvSpPr>
          <p:cNvPr id="362" name="Google Shape;362;p26"/>
          <p:cNvSpPr txBox="1">
            <a:spLocks noGrp="1"/>
          </p:cNvSpPr>
          <p:nvPr>
            <p:ph type="body" idx="1"/>
          </p:nvPr>
        </p:nvSpPr>
        <p:spPr>
          <a:xfrm>
            <a:off x="91522" y="377791"/>
            <a:ext cx="1823417" cy="311322"/>
          </a:xfrm>
          <a:prstGeom prst="rect">
            <a:avLst/>
          </a:prstGeom>
        </p:spPr>
        <p:txBody>
          <a:bodyPr spcFirstLastPara="1" wrap="square" lIns="91425" tIns="91425" rIns="91425" bIns="91425" anchor="t" anchorCtr="0">
            <a:noAutofit/>
          </a:bodyPr>
          <a:lstStyle/>
          <a:p>
            <a:pPr marL="0" indent="0">
              <a:buNone/>
            </a:pPr>
            <a:r>
              <a:rPr lang="en-IN" dirty="0"/>
              <a:t>Describe the Tables</a:t>
            </a:r>
            <a:r>
              <a:rPr lang="en-IN" dirty="0" smtClean="0"/>
              <a:t>: </a:t>
            </a:r>
            <a:endParaRPr dirty="0"/>
          </a:p>
          <a:p>
            <a:pPr marL="0" lvl="0" indent="0" algn="l" rtl="0">
              <a:spcBef>
                <a:spcPts val="0"/>
              </a:spcBef>
              <a:spcAft>
                <a:spcPts val="100"/>
              </a:spcAft>
              <a:buNone/>
            </a:pPr>
            <a:endParaRPr dirty="0"/>
          </a:p>
        </p:txBody>
      </p:sp>
      <p:sp>
        <p:nvSpPr>
          <p:cNvPr id="2" name="Rectangle 1"/>
          <p:cNvSpPr/>
          <p:nvPr/>
        </p:nvSpPr>
        <p:spPr>
          <a:xfrm>
            <a:off x="91522" y="720623"/>
            <a:ext cx="1823417" cy="246221"/>
          </a:xfrm>
          <a:prstGeom prst="rect">
            <a:avLst/>
          </a:prstGeom>
        </p:spPr>
        <p:txBody>
          <a:bodyPr wrap="square">
            <a:spAutoFit/>
          </a:bodyPr>
          <a:lstStyle/>
          <a:p>
            <a:r>
              <a:rPr lang="en-IN" sz="1000" dirty="0">
                <a:solidFill>
                  <a:schemeClr val="accent3">
                    <a:lumMod val="50000"/>
                    <a:lumOff val="50000"/>
                  </a:schemeClr>
                </a:solidFill>
                <a:latin typeface="Calibri" panose="020F0502020204030204" pitchFamily="34" charset="0"/>
                <a:cs typeface="Calibri" panose="020F0502020204030204" pitchFamily="34" charset="0"/>
              </a:rPr>
              <a:t>DESCRIBE Customers</a:t>
            </a:r>
            <a:r>
              <a:rPr lang="en-IN" sz="1000" dirty="0" smtClean="0">
                <a:solidFill>
                  <a:schemeClr val="accent3">
                    <a:lumMod val="50000"/>
                    <a:lumOff val="50000"/>
                  </a:schemeClr>
                </a:solidFill>
                <a:latin typeface="Calibri" panose="020F0502020204030204" pitchFamily="34" charset="0"/>
                <a:cs typeface="Calibri" panose="020F0502020204030204" pitchFamily="34" charset="0"/>
              </a:rPr>
              <a:t>;</a:t>
            </a:r>
            <a:endParaRPr lang="en-IN" sz="1000" dirty="0">
              <a:solidFill>
                <a:schemeClr val="accent3">
                  <a:lumMod val="50000"/>
                  <a:lumOff val="50000"/>
                </a:schemeClr>
              </a:solidFill>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20" y="998574"/>
            <a:ext cx="2956479" cy="1475329"/>
          </a:xfrm>
          <a:prstGeom prst="rect">
            <a:avLst/>
          </a:prstGeom>
        </p:spPr>
      </p:pic>
      <p:sp>
        <p:nvSpPr>
          <p:cNvPr id="4" name="Rectangle 3"/>
          <p:cNvSpPr/>
          <p:nvPr/>
        </p:nvSpPr>
        <p:spPr>
          <a:xfrm>
            <a:off x="5184913" y="659067"/>
            <a:ext cx="1563756" cy="307777"/>
          </a:xfrm>
          <a:prstGeom prst="rect">
            <a:avLst/>
          </a:prstGeom>
        </p:spPr>
        <p:txBody>
          <a:bodyPr wrap="square">
            <a:spAutoFit/>
          </a:bodyPr>
          <a:lstStyle/>
          <a:p>
            <a:r>
              <a:rPr lang="en-IN" sz="1000" dirty="0">
                <a:solidFill>
                  <a:schemeClr val="accent3">
                    <a:lumMod val="50000"/>
                    <a:lumOff val="50000"/>
                  </a:schemeClr>
                </a:solidFill>
                <a:latin typeface="Calibri" panose="020F0502020204030204" pitchFamily="34" charset="0"/>
                <a:cs typeface="Calibri" panose="020F0502020204030204" pitchFamily="34" charset="0"/>
              </a:rPr>
              <a:t>DESCRIBE</a:t>
            </a:r>
            <a:r>
              <a:rPr lang="en-IN" dirty="0">
                <a:solidFill>
                  <a:schemeClr val="accent3">
                    <a:lumMod val="50000"/>
                    <a:lumOff val="50000"/>
                  </a:schemeClr>
                </a:solidFill>
                <a:latin typeface="Calibri" panose="020F0502020204030204" pitchFamily="34" charset="0"/>
                <a:cs typeface="Calibri" panose="020F0502020204030204" pitchFamily="34" charset="0"/>
              </a:rPr>
              <a:t> </a:t>
            </a:r>
            <a:r>
              <a:rPr lang="en-IN" sz="1000" dirty="0">
                <a:solidFill>
                  <a:schemeClr val="accent3">
                    <a:lumMod val="50000"/>
                    <a:lumOff val="50000"/>
                  </a:schemeClr>
                </a:solidFill>
                <a:latin typeface="Calibri" panose="020F0502020204030204" pitchFamily="34" charset="0"/>
                <a:cs typeface="Calibri" panose="020F0502020204030204" pitchFamily="34" charset="0"/>
              </a:rPr>
              <a:t>Products</a:t>
            </a:r>
            <a:r>
              <a:rPr lang="en-IN" dirty="0" smtClean="0">
                <a:solidFill>
                  <a:schemeClr val="accent3">
                    <a:lumMod val="50000"/>
                    <a:lumOff val="50000"/>
                  </a:schemeClr>
                </a:solidFill>
                <a:latin typeface="Calibri" panose="020F0502020204030204" pitchFamily="34" charset="0"/>
                <a:cs typeface="Calibri" panose="020F0502020204030204" pitchFamily="34" charset="0"/>
              </a:rPr>
              <a:t>;</a:t>
            </a:r>
            <a:endParaRPr lang="en-IN" dirty="0">
              <a:solidFill>
                <a:schemeClr val="accent3">
                  <a:lumMod val="50000"/>
                  <a:lumOff val="50000"/>
                </a:schemeClr>
              </a:solidFill>
              <a:latin typeface="Calibri" panose="020F0502020204030204" pitchFamily="34" charset="0"/>
              <a:cs typeface="Calibri" panose="020F0502020204030204" pitchFamily="34" charset="0"/>
            </a:endParaRPr>
          </a:p>
        </p:txBody>
      </p:sp>
      <p:sp>
        <p:nvSpPr>
          <p:cNvPr id="5" name="Rectangle 4"/>
          <p:cNvSpPr/>
          <p:nvPr/>
        </p:nvSpPr>
        <p:spPr>
          <a:xfrm>
            <a:off x="4830417" y="2716036"/>
            <a:ext cx="1848679" cy="246221"/>
          </a:xfrm>
          <a:prstGeom prst="rect">
            <a:avLst/>
          </a:prstGeom>
        </p:spPr>
        <p:txBody>
          <a:bodyPr wrap="square">
            <a:spAutoFit/>
          </a:bodyPr>
          <a:lstStyle/>
          <a:p>
            <a:r>
              <a:rPr lang="en-IN" sz="1000" dirty="0" smtClean="0">
                <a:solidFill>
                  <a:schemeClr val="accent3">
                    <a:lumMod val="50000"/>
                    <a:lumOff val="50000"/>
                  </a:schemeClr>
                </a:solidFill>
                <a:latin typeface="Calibri" panose="020F0502020204030204" pitchFamily="34" charset="0"/>
                <a:cs typeface="Calibri" panose="020F0502020204030204" pitchFamily="34" charset="0"/>
              </a:rPr>
              <a:t>DESCRIBE</a:t>
            </a:r>
            <a:r>
              <a:rPr lang="en-IN" sz="1000" dirty="0">
                <a:solidFill>
                  <a:schemeClr val="accent3">
                    <a:lumMod val="50000"/>
                    <a:lumOff val="50000"/>
                  </a:schemeClr>
                </a:solidFill>
                <a:latin typeface="Calibri" panose="020F0502020204030204" pitchFamily="34" charset="0"/>
                <a:cs typeface="Calibri" panose="020F0502020204030204" pitchFamily="34" charset="0"/>
              </a:rPr>
              <a:t> </a:t>
            </a:r>
            <a:r>
              <a:rPr lang="en-IN" sz="1000" dirty="0" err="1">
                <a:solidFill>
                  <a:schemeClr val="accent3">
                    <a:lumMod val="50000"/>
                    <a:lumOff val="50000"/>
                  </a:schemeClr>
                </a:solidFill>
                <a:latin typeface="Calibri" panose="020F0502020204030204" pitchFamily="34" charset="0"/>
                <a:cs typeface="Calibri" panose="020F0502020204030204" pitchFamily="34" charset="0"/>
              </a:rPr>
              <a:t>OrderDetails</a:t>
            </a:r>
            <a:r>
              <a:rPr lang="en-IN" sz="1000" dirty="0">
                <a:solidFill>
                  <a:schemeClr val="accent3">
                    <a:lumMod val="50000"/>
                    <a:lumOff val="50000"/>
                  </a:schemeClr>
                </a:solidFill>
                <a:latin typeface="Calibri" panose="020F0502020204030204" pitchFamily="34" charset="0"/>
                <a:cs typeface="Calibri" panose="020F0502020204030204" pitchFamily="34" charset="0"/>
              </a:rPr>
              <a:t>;</a:t>
            </a:r>
            <a:endParaRPr lang="en-IN" sz="1000" dirty="0">
              <a:solidFill>
                <a:schemeClr val="accent3">
                  <a:lumMod val="50000"/>
                  <a:lumOff val="50000"/>
                </a:schemeClr>
              </a:solidFill>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3462" y="1096680"/>
            <a:ext cx="2994991" cy="1436805"/>
          </a:xfrm>
          <a:prstGeom prst="rect">
            <a:avLst/>
          </a:prstGeom>
        </p:spPr>
      </p:pic>
      <p:sp>
        <p:nvSpPr>
          <p:cNvPr id="7" name="Rectangle 6"/>
          <p:cNvSpPr/>
          <p:nvPr/>
        </p:nvSpPr>
        <p:spPr>
          <a:xfrm>
            <a:off x="47120" y="2716036"/>
            <a:ext cx="1106393" cy="246221"/>
          </a:xfrm>
          <a:prstGeom prst="rect">
            <a:avLst/>
          </a:prstGeom>
        </p:spPr>
        <p:txBody>
          <a:bodyPr wrap="none">
            <a:spAutoFit/>
          </a:bodyPr>
          <a:lstStyle/>
          <a:p>
            <a:r>
              <a:rPr lang="en-IN" sz="1000" dirty="0">
                <a:solidFill>
                  <a:schemeClr val="accent3">
                    <a:lumMod val="50000"/>
                    <a:lumOff val="50000"/>
                  </a:schemeClr>
                </a:solidFill>
                <a:latin typeface="Calibri" panose="020F0502020204030204" pitchFamily="34" charset="0"/>
                <a:cs typeface="Calibri" panose="020F0502020204030204" pitchFamily="34" charset="0"/>
              </a:rPr>
              <a:t>DESCRIBE Orders;</a:t>
            </a:r>
            <a:endParaRPr lang="en-IN" sz="1000" dirty="0">
              <a:solidFill>
                <a:schemeClr val="accent3">
                  <a:lumMod val="50000"/>
                  <a:lumOff val="50000"/>
                </a:schemeClr>
              </a:solidFill>
              <a:latin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71" y="2962902"/>
            <a:ext cx="2763941" cy="1697047"/>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1939" y="3069191"/>
            <a:ext cx="2892287" cy="1590758"/>
          </a:xfrm>
          <a:prstGeom prst="rect">
            <a:avLst/>
          </a:prstGeom>
        </p:spPr>
      </p:pic>
    </p:spTree>
    <p:extLst>
      <p:ext uri="{BB962C8B-B14F-4D97-AF65-F5344CB8AC3E}">
        <p14:creationId xmlns:p14="http://schemas.microsoft.com/office/powerpoint/2010/main" val="14600096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229" y="80237"/>
            <a:ext cx="8918257" cy="237816"/>
          </a:xfrm>
        </p:spPr>
        <p:txBody>
          <a:bodyPr/>
          <a:lstStyle/>
          <a:p>
            <a:pPr algn="l"/>
            <a:r>
              <a:rPr lang="en-US" sz="1000" b="0" dirty="0">
                <a:latin typeface="Calibri" panose="020F0502020204030204" pitchFamily="34" charset="0"/>
                <a:cs typeface="Calibri" panose="020F0502020204030204" pitchFamily="34" charset="0"/>
              </a:rPr>
              <a:t>Identify the top 3 cities with the highest number of customers to determine key markets for targeted marketing and logistic optimization.</a:t>
            </a:r>
            <a:endParaRPr lang="en-IN" sz="1000" dirty="0">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212491" y="318052"/>
            <a:ext cx="4045200" cy="1696277"/>
          </a:xfrm>
        </p:spPr>
        <p:txBody>
          <a:bodyPr/>
          <a:lstStyle/>
          <a:p>
            <a:pPr algn="l"/>
            <a:r>
              <a:rPr lang="en-US" sz="1000" dirty="0">
                <a:latin typeface="Calibri" panose="020F0502020204030204" pitchFamily="34" charset="0"/>
                <a:cs typeface="Calibri" panose="020F0502020204030204" pitchFamily="34" charset="0"/>
              </a:rPr>
              <a:t>SELECT </a:t>
            </a:r>
          </a:p>
          <a:p>
            <a:pPr algn="l"/>
            <a:r>
              <a:rPr lang="en-US" sz="1000" dirty="0">
                <a:latin typeface="Calibri" panose="020F0502020204030204" pitchFamily="34" charset="0"/>
                <a:cs typeface="Calibri" panose="020F0502020204030204" pitchFamily="34" charset="0"/>
              </a:rPr>
              <a:t>    location,</a:t>
            </a:r>
          </a:p>
          <a:p>
            <a:pPr algn="l"/>
            <a:r>
              <a:rPr lang="en-US" sz="1000" dirty="0">
                <a:latin typeface="Calibri" panose="020F0502020204030204" pitchFamily="34" charset="0"/>
                <a:cs typeface="Calibri" panose="020F0502020204030204" pitchFamily="34" charset="0"/>
              </a:rPr>
              <a:t>    COUNT(</a:t>
            </a:r>
            <a:r>
              <a:rPr lang="en-US" sz="1000" dirty="0" err="1">
                <a:latin typeface="Calibri" panose="020F0502020204030204" pitchFamily="34" charset="0"/>
                <a:cs typeface="Calibri" panose="020F0502020204030204" pitchFamily="34" charset="0"/>
              </a:rPr>
              <a:t>customer_id</a:t>
            </a:r>
            <a:r>
              <a:rPr lang="en-US" sz="1000" dirty="0">
                <a:latin typeface="Calibri" panose="020F0502020204030204" pitchFamily="34" charset="0"/>
                <a:cs typeface="Calibri" panose="020F0502020204030204" pitchFamily="34" charset="0"/>
              </a:rPr>
              <a:t>) AS </a:t>
            </a:r>
            <a:r>
              <a:rPr lang="en-US" sz="1000" dirty="0" err="1">
                <a:latin typeface="Calibri" panose="020F0502020204030204" pitchFamily="34" charset="0"/>
                <a:cs typeface="Calibri" panose="020F0502020204030204" pitchFamily="34" charset="0"/>
              </a:rPr>
              <a:t>number_of_customers</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FROM </a:t>
            </a:r>
          </a:p>
          <a:p>
            <a:pPr algn="l"/>
            <a:r>
              <a:rPr lang="en-US" sz="1000" dirty="0">
                <a:latin typeface="Calibri" panose="020F0502020204030204" pitchFamily="34" charset="0"/>
                <a:cs typeface="Calibri" panose="020F0502020204030204" pitchFamily="34" charset="0"/>
              </a:rPr>
              <a:t>    Customers</a:t>
            </a:r>
          </a:p>
          <a:p>
            <a:pPr algn="l"/>
            <a:r>
              <a:rPr lang="en-US" sz="1000" dirty="0">
                <a:latin typeface="Calibri" panose="020F0502020204030204" pitchFamily="34" charset="0"/>
                <a:cs typeface="Calibri" panose="020F0502020204030204" pitchFamily="34" charset="0"/>
              </a:rPr>
              <a:t>GROUP BY </a:t>
            </a:r>
          </a:p>
          <a:p>
            <a:pPr algn="l"/>
            <a:r>
              <a:rPr lang="en-US" sz="1000" dirty="0">
                <a:latin typeface="Calibri" panose="020F0502020204030204" pitchFamily="34" charset="0"/>
                <a:cs typeface="Calibri" panose="020F0502020204030204" pitchFamily="34" charset="0"/>
              </a:rPr>
              <a:t>    location</a:t>
            </a:r>
          </a:p>
          <a:p>
            <a:pPr algn="l"/>
            <a:r>
              <a:rPr lang="en-US" sz="1000" dirty="0">
                <a:latin typeface="Calibri" panose="020F0502020204030204" pitchFamily="34" charset="0"/>
                <a:cs typeface="Calibri" panose="020F0502020204030204" pitchFamily="34" charset="0"/>
              </a:rPr>
              <a:t>ORDER BY </a:t>
            </a:r>
          </a:p>
          <a:p>
            <a:pPr algn="l"/>
            <a:r>
              <a:rPr lang="en-US" sz="1000" dirty="0">
                <a:latin typeface="Calibri" panose="020F0502020204030204" pitchFamily="34" charset="0"/>
                <a:cs typeface="Calibri" panose="020F0502020204030204" pitchFamily="34" charset="0"/>
              </a:rPr>
              <a:t>    </a:t>
            </a:r>
            <a:r>
              <a:rPr lang="en-US" sz="1000" dirty="0" err="1">
                <a:latin typeface="Calibri" panose="020F0502020204030204" pitchFamily="34" charset="0"/>
                <a:cs typeface="Calibri" panose="020F0502020204030204" pitchFamily="34" charset="0"/>
              </a:rPr>
              <a:t>number_of_customers</a:t>
            </a:r>
            <a:r>
              <a:rPr lang="en-US" sz="1000" dirty="0">
                <a:latin typeface="Calibri" panose="020F0502020204030204" pitchFamily="34" charset="0"/>
                <a:cs typeface="Calibri" panose="020F0502020204030204" pitchFamily="34" charset="0"/>
              </a:rPr>
              <a:t> DESC</a:t>
            </a:r>
          </a:p>
          <a:p>
            <a:pPr algn="l"/>
            <a:r>
              <a:rPr lang="en-US" sz="1000" dirty="0">
                <a:latin typeface="Calibri" panose="020F0502020204030204" pitchFamily="34" charset="0"/>
                <a:cs typeface="Calibri" panose="020F0502020204030204" pitchFamily="34" charset="0"/>
              </a:rPr>
              <a:t>LIMIT 3;</a:t>
            </a:r>
          </a:p>
          <a:p>
            <a:pPr algn="l"/>
            <a:endParaRPr lang="en-IN" sz="1000"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9092" y="318051"/>
            <a:ext cx="4982816" cy="3816627"/>
          </a:xfrm>
          <a:prstGeom prst="rect">
            <a:avLst/>
          </a:prstGeom>
        </p:spPr>
      </p:pic>
      <p:pic>
        <p:nvPicPr>
          <p:cNvPr id="13" name="Picture 12"/>
          <p:cNvPicPr>
            <a:picLocks noChangeAspect="1"/>
          </p:cNvPicPr>
          <p:nvPr/>
        </p:nvPicPr>
        <p:blipFill>
          <a:blip r:embed="rId3"/>
          <a:stretch>
            <a:fillRect/>
          </a:stretch>
        </p:blipFill>
        <p:spPr>
          <a:xfrm>
            <a:off x="73384" y="2611097"/>
            <a:ext cx="3630600" cy="1661808"/>
          </a:xfrm>
          <a:prstGeom prst="rect">
            <a:avLst/>
          </a:prstGeom>
        </p:spPr>
      </p:pic>
    </p:spTree>
    <p:extLst>
      <p:ext uri="{BB962C8B-B14F-4D97-AF65-F5344CB8AC3E}">
        <p14:creationId xmlns:p14="http://schemas.microsoft.com/office/powerpoint/2010/main" val="36050962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6" y="0"/>
            <a:ext cx="8918257" cy="463826"/>
          </a:xfrm>
        </p:spPr>
        <p:txBody>
          <a:bodyPr/>
          <a:lstStyle/>
          <a:p>
            <a:pPr algn="l"/>
            <a:r>
              <a:rPr lang="en-US" sz="1000" b="0" dirty="0">
                <a:latin typeface="Calibri" panose="020F0502020204030204" pitchFamily="34" charset="0"/>
                <a:cs typeface="Calibri" panose="020F0502020204030204" pitchFamily="34" charset="0"/>
              </a:rPr>
              <a:t>Determine the distribution of customers by the number of orders placed. This insight will help in segmenting customers into one-time buyers, occasional shoppers, and regular </a:t>
            </a:r>
            <a:r>
              <a:rPr lang="en-US" sz="1000" b="0" dirty="0" smtClean="0">
                <a:latin typeface="Calibri" panose="020F0502020204030204" pitchFamily="34" charset="0"/>
                <a:cs typeface="Calibri" panose="020F0502020204030204" pitchFamily="34" charset="0"/>
              </a:rPr>
              <a:t>customers </a:t>
            </a:r>
            <a:r>
              <a:rPr lang="en-US" sz="1000" b="0" dirty="0">
                <a:latin typeface="Calibri" panose="020F0502020204030204" pitchFamily="34" charset="0"/>
                <a:cs typeface="Calibri" panose="020F0502020204030204" pitchFamily="34" charset="0"/>
              </a:rPr>
              <a:t>for tailored marketing strategies.</a:t>
            </a:r>
            <a:endParaRPr lang="en-IN" sz="100" dirty="0">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126352" y="463826"/>
            <a:ext cx="3199944" cy="3120887"/>
          </a:xfrm>
        </p:spPr>
        <p:txBody>
          <a:bodyPr/>
          <a:lstStyle/>
          <a:p>
            <a:pPr algn="l"/>
            <a:r>
              <a:rPr lang="en-US" sz="900" dirty="0">
                <a:latin typeface="Calibri" panose="020F0502020204030204" pitchFamily="34" charset="0"/>
                <a:cs typeface="Calibri" panose="020F0502020204030204" pitchFamily="34" charset="0"/>
              </a:rPr>
              <a:t>SELECT </a:t>
            </a:r>
          </a:p>
          <a:p>
            <a:pPr algn="l"/>
            <a:r>
              <a:rPr lang="en-US" sz="900" dirty="0">
                <a:latin typeface="Calibri" panose="020F0502020204030204" pitchFamily="34" charset="0"/>
                <a:cs typeface="Calibri" panose="020F0502020204030204" pitchFamily="34" charset="0"/>
              </a:rPr>
              <a:t>    CASE</a:t>
            </a:r>
          </a:p>
          <a:p>
            <a:pPr algn="l"/>
            <a:r>
              <a:rPr lang="en-US" sz="900" dirty="0">
                <a:latin typeface="Calibri" panose="020F0502020204030204" pitchFamily="34" charset="0"/>
                <a:cs typeface="Calibri" panose="020F0502020204030204" pitchFamily="34" charset="0"/>
              </a:rPr>
              <a:t>        WHEN </a:t>
            </a:r>
            <a:r>
              <a:rPr lang="en-US" sz="900" dirty="0" err="1">
                <a:latin typeface="Calibri" panose="020F0502020204030204" pitchFamily="34" charset="0"/>
                <a:cs typeface="Calibri" panose="020F0502020204030204" pitchFamily="34" charset="0"/>
              </a:rPr>
              <a:t>order_count</a:t>
            </a:r>
            <a:r>
              <a:rPr lang="en-US" sz="900" dirty="0">
                <a:latin typeface="Calibri" panose="020F0502020204030204" pitchFamily="34" charset="0"/>
                <a:cs typeface="Calibri" panose="020F0502020204030204" pitchFamily="34" charset="0"/>
              </a:rPr>
              <a:t> = 1 THEN 1</a:t>
            </a:r>
          </a:p>
          <a:p>
            <a:pPr algn="l"/>
            <a:r>
              <a:rPr lang="en-US" sz="900" dirty="0">
                <a:latin typeface="Calibri" panose="020F0502020204030204" pitchFamily="34" charset="0"/>
                <a:cs typeface="Calibri" panose="020F0502020204030204" pitchFamily="34" charset="0"/>
              </a:rPr>
              <a:t>        WHEN </a:t>
            </a:r>
            <a:r>
              <a:rPr lang="en-US" sz="900" dirty="0" err="1">
                <a:latin typeface="Calibri" panose="020F0502020204030204" pitchFamily="34" charset="0"/>
                <a:cs typeface="Calibri" panose="020F0502020204030204" pitchFamily="34" charset="0"/>
              </a:rPr>
              <a:t>order_count</a:t>
            </a:r>
            <a:r>
              <a:rPr lang="en-US" sz="900" dirty="0">
                <a:latin typeface="Calibri" panose="020F0502020204030204" pitchFamily="34" charset="0"/>
                <a:cs typeface="Calibri" panose="020F0502020204030204" pitchFamily="34" charset="0"/>
              </a:rPr>
              <a:t> BETWEEN 2 AND 4 THEN </a:t>
            </a:r>
            <a:r>
              <a:rPr lang="en-US" sz="900" dirty="0" err="1">
                <a:latin typeface="Calibri" panose="020F0502020204030204" pitchFamily="34" charset="0"/>
                <a:cs typeface="Calibri" panose="020F0502020204030204" pitchFamily="34" charset="0"/>
              </a:rPr>
              <a:t>order_count</a:t>
            </a:r>
            <a:r>
              <a:rPr lang="en-US" sz="900" dirty="0">
                <a:latin typeface="Calibri" panose="020F0502020204030204" pitchFamily="34" charset="0"/>
                <a:cs typeface="Calibri" panose="020F0502020204030204" pitchFamily="34" charset="0"/>
              </a:rPr>
              <a:t>  -- or a range like '2-4'</a:t>
            </a:r>
          </a:p>
          <a:p>
            <a:pPr algn="l"/>
            <a:r>
              <a:rPr lang="en-US" sz="900" dirty="0">
                <a:latin typeface="Calibri" panose="020F0502020204030204" pitchFamily="34" charset="0"/>
                <a:cs typeface="Calibri" panose="020F0502020204030204" pitchFamily="34" charset="0"/>
              </a:rPr>
              <a:t>        WHEN </a:t>
            </a:r>
            <a:r>
              <a:rPr lang="en-US" sz="900" dirty="0" err="1">
                <a:latin typeface="Calibri" panose="020F0502020204030204" pitchFamily="34" charset="0"/>
                <a:cs typeface="Calibri" panose="020F0502020204030204" pitchFamily="34" charset="0"/>
              </a:rPr>
              <a:t>order_count</a:t>
            </a:r>
            <a:r>
              <a:rPr lang="en-US" sz="900" dirty="0">
                <a:latin typeface="Calibri" panose="020F0502020204030204" pitchFamily="34" charset="0"/>
                <a:cs typeface="Calibri" panose="020F0502020204030204" pitchFamily="34" charset="0"/>
              </a:rPr>
              <a:t> &gt; 4 THEN </a:t>
            </a:r>
            <a:r>
              <a:rPr lang="en-US" sz="900" dirty="0" err="1">
                <a:latin typeface="Calibri" panose="020F0502020204030204" pitchFamily="34" charset="0"/>
                <a:cs typeface="Calibri" panose="020F0502020204030204" pitchFamily="34" charset="0"/>
              </a:rPr>
              <a:t>order_count</a:t>
            </a:r>
            <a:endParaRPr lang="en-US" sz="900" dirty="0">
              <a:latin typeface="Calibri" panose="020F0502020204030204" pitchFamily="34" charset="0"/>
              <a:cs typeface="Calibri" panose="020F0502020204030204" pitchFamily="34" charset="0"/>
            </a:endParaRPr>
          </a:p>
          <a:p>
            <a:pPr algn="l"/>
            <a:r>
              <a:rPr lang="en-US" sz="900" dirty="0">
                <a:latin typeface="Calibri" panose="020F0502020204030204" pitchFamily="34" charset="0"/>
                <a:cs typeface="Calibri" panose="020F0502020204030204" pitchFamily="34" charset="0"/>
              </a:rPr>
              <a:t>    END AS </a:t>
            </a:r>
            <a:r>
              <a:rPr lang="en-US" sz="900" dirty="0" err="1">
                <a:latin typeface="Calibri" panose="020F0502020204030204" pitchFamily="34" charset="0"/>
                <a:cs typeface="Calibri" panose="020F0502020204030204" pitchFamily="34" charset="0"/>
              </a:rPr>
              <a:t>numberOfOrders</a:t>
            </a:r>
            <a:r>
              <a:rPr lang="en-US" sz="900" dirty="0">
                <a:latin typeface="Calibri" panose="020F0502020204030204" pitchFamily="34" charset="0"/>
                <a:cs typeface="Calibri" panose="020F0502020204030204" pitchFamily="34" charset="0"/>
              </a:rPr>
              <a:t>,</a:t>
            </a:r>
          </a:p>
          <a:p>
            <a:pPr algn="l"/>
            <a:r>
              <a:rPr lang="en-US" sz="900" dirty="0">
                <a:latin typeface="Calibri" panose="020F0502020204030204" pitchFamily="34" charset="0"/>
                <a:cs typeface="Calibri" panose="020F0502020204030204" pitchFamily="34" charset="0"/>
              </a:rPr>
              <a:t>    COUNT(*) AS </a:t>
            </a:r>
            <a:r>
              <a:rPr lang="en-US" sz="900" dirty="0" err="1">
                <a:latin typeface="Calibri" panose="020F0502020204030204" pitchFamily="34" charset="0"/>
                <a:cs typeface="Calibri" panose="020F0502020204030204" pitchFamily="34" charset="0"/>
              </a:rPr>
              <a:t>CustomerCount</a:t>
            </a:r>
            <a:endParaRPr lang="en-US" sz="900" dirty="0">
              <a:latin typeface="Calibri" panose="020F0502020204030204" pitchFamily="34" charset="0"/>
              <a:cs typeface="Calibri" panose="020F0502020204030204" pitchFamily="34" charset="0"/>
            </a:endParaRPr>
          </a:p>
          <a:p>
            <a:pPr algn="l"/>
            <a:r>
              <a:rPr lang="en-US" sz="900" dirty="0">
                <a:latin typeface="Calibri" panose="020F0502020204030204" pitchFamily="34" charset="0"/>
                <a:cs typeface="Calibri" panose="020F0502020204030204" pitchFamily="34" charset="0"/>
              </a:rPr>
              <a:t>FROM (</a:t>
            </a:r>
          </a:p>
          <a:p>
            <a:pPr algn="l"/>
            <a:r>
              <a:rPr lang="en-US" sz="900" dirty="0">
                <a:latin typeface="Calibri" panose="020F0502020204030204" pitchFamily="34" charset="0"/>
                <a:cs typeface="Calibri" panose="020F0502020204030204" pitchFamily="34" charset="0"/>
              </a:rPr>
              <a:t>    SELECT </a:t>
            </a:r>
          </a:p>
          <a:p>
            <a:pPr algn="l"/>
            <a:r>
              <a:rPr lang="en-US" sz="900" dirty="0">
                <a:latin typeface="Calibri" panose="020F0502020204030204" pitchFamily="34" charset="0"/>
                <a:cs typeface="Calibri" panose="020F0502020204030204" pitchFamily="34" charset="0"/>
              </a:rPr>
              <a:t>        </a:t>
            </a:r>
            <a:r>
              <a:rPr lang="en-US" sz="900" dirty="0" err="1">
                <a:latin typeface="Calibri" panose="020F0502020204030204" pitchFamily="34" charset="0"/>
                <a:cs typeface="Calibri" panose="020F0502020204030204" pitchFamily="34" charset="0"/>
              </a:rPr>
              <a:t>customer_id</a:t>
            </a:r>
            <a:r>
              <a:rPr lang="en-US" sz="900" dirty="0">
                <a:latin typeface="Calibri" panose="020F0502020204030204" pitchFamily="34" charset="0"/>
                <a:cs typeface="Calibri" panose="020F0502020204030204" pitchFamily="34" charset="0"/>
              </a:rPr>
              <a:t>,</a:t>
            </a:r>
          </a:p>
          <a:p>
            <a:pPr algn="l"/>
            <a:r>
              <a:rPr lang="en-US" sz="900" dirty="0">
                <a:latin typeface="Calibri" panose="020F0502020204030204" pitchFamily="34" charset="0"/>
                <a:cs typeface="Calibri" panose="020F0502020204030204" pitchFamily="34" charset="0"/>
              </a:rPr>
              <a:t>        COUNT(</a:t>
            </a:r>
            <a:r>
              <a:rPr lang="en-US" sz="900" dirty="0" err="1">
                <a:latin typeface="Calibri" panose="020F0502020204030204" pitchFamily="34" charset="0"/>
                <a:cs typeface="Calibri" panose="020F0502020204030204" pitchFamily="34" charset="0"/>
              </a:rPr>
              <a:t>order_id</a:t>
            </a:r>
            <a:r>
              <a:rPr lang="en-US" sz="900" dirty="0">
                <a:latin typeface="Calibri" panose="020F0502020204030204" pitchFamily="34" charset="0"/>
                <a:cs typeface="Calibri" panose="020F0502020204030204" pitchFamily="34" charset="0"/>
              </a:rPr>
              <a:t>) AS </a:t>
            </a:r>
            <a:r>
              <a:rPr lang="en-US" sz="900" dirty="0" err="1">
                <a:latin typeface="Calibri" panose="020F0502020204030204" pitchFamily="34" charset="0"/>
                <a:cs typeface="Calibri" panose="020F0502020204030204" pitchFamily="34" charset="0"/>
              </a:rPr>
              <a:t>order_count</a:t>
            </a:r>
            <a:endParaRPr lang="en-US" sz="900" dirty="0">
              <a:latin typeface="Calibri" panose="020F0502020204030204" pitchFamily="34" charset="0"/>
              <a:cs typeface="Calibri" panose="020F0502020204030204" pitchFamily="34" charset="0"/>
            </a:endParaRPr>
          </a:p>
          <a:p>
            <a:pPr algn="l"/>
            <a:r>
              <a:rPr lang="en-US" sz="900" dirty="0">
                <a:latin typeface="Calibri" panose="020F0502020204030204" pitchFamily="34" charset="0"/>
                <a:cs typeface="Calibri" panose="020F0502020204030204" pitchFamily="34" charset="0"/>
              </a:rPr>
              <a:t>    FROM </a:t>
            </a:r>
          </a:p>
          <a:p>
            <a:pPr algn="l"/>
            <a:r>
              <a:rPr lang="en-US" sz="900" dirty="0">
                <a:latin typeface="Calibri" panose="020F0502020204030204" pitchFamily="34" charset="0"/>
                <a:cs typeface="Calibri" panose="020F0502020204030204" pitchFamily="34" charset="0"/>
              </a:rPr>
              <a:t>        Orders</a:t>
            </a:r>
          </a:p>
          <a:p>
            <a:pPr algn="l"/>
            <a:r>
              <a:rPr lang="en-US" sz="900" dirty="0">
                <a:latin typeface="Calibri" panose="020F0502020204030204" pitchFamily="34" charset="0"/>
                <a:cs typeface="Calibri" panose="020F0502020204030204" pitchFamily="34" charset="0"/>
              </a:rPr>
              <a:t>    GROUP BY </a:t>
            </a:r>
          </a:p>
          <a:p>
            <a:pPr algn="l"/>
            <a:r>
              <a:rPr lang="en-US" sz="900" dirty="0">
                <a:latin typeface="Calibri" panose="020F0502020204030204" pitchFamily="34" charset="0"/>
                <a:cs typeface="Calibri" panose="020F0502020204030204" pitchFamily="34" charset="0"/>
              </a:rPr>
              <a:t>        </a:t>
            </a:r>
            <a:r>
              <a:rPr lang="en-US" sz="900" dirty="0" err="1">
                <a:latin typeface="Calibri" panose="020F0502020204030204" pitchFamily="34" charset="0"/>
                <a:cs typeface="Calibri" panose="020F0502020204030204" pitchFamily="34" charset="0"/>
              </a:rPr>
              <a:t>customer_id</a:t>
            </a:r>
            <a:endParaRPr lang="en-US" sz="900" dirty="0">
              <a:latin typeface="Calibri" panose="020F0502020204030204" pitchFamily="34" charset="0"/>
              <a:cs typeface="Calibri" panose="020F0502020204030204" pitchFamily="34" charset="0"/>
            </a:endParaRPr>
          </a:p>
          <a:p>
            <a:pPr algn="l"/>
            <a:r>
              <a:rPr lang="en-US" sz="900" dirty="0">
                <a:latin typeface="Calibri" panose="020F0502020204030204" pitchFamily="34" charset="0"/>
                <a:cs typeface="Calibri" panose="020F0502020204030204" pitchFamily="34" charset="0"/>
              </a:rPr>
              <a:t>) AS </a:t>
            </a:r>
            <a:r>
              <a:rPr lang="en-US" sz="900" dirty="0" err="1">
                <a:latin typeface="Calibri" panose="020F0502020204030204" pitchFamily="34" charset="0"/>
                <a:cs typeface="Calibri" panose="020F0502020204030204" pitchFamily="34" charset="0"/>
              </a:rPr>
              <a:t>customer_summary</a:t>
            </a:r>
            <a:endParaRPr lang="en-US" sz="900" dirty="0">
              <a:latin typeface="Calibri" panose="020F0502020204030204" pitchFamily="34" charset="0"/>
              <a:cs typeface="Calibri" panose="020F0502020204030204" pitchFamily="34" charset="0"/>
            </a:endParaRPr>
          </a:p>
          <a:p>
            <a:pPr algn="l"/>
            <a:r>
              <a:rPr lang="en-US" sz="900" dirty="0">
                <a:latin typeface="Calibri" panose="020F0502020204030204" pitchFamily="34" charset="0"/>
                <a:cs typeface="Calibri" panose="020F0502020204030204" pitchFamily="34" charset="0"/>
              </a:rPr>
              <a:t>GROUP BY </a:t>
            </a:r>
          </a:p>
          <a:p>
            <a:pPr algn="l"/>
            <a:r>
              <a:rPr lang="en-US" sz="900" dirty="0">
                <a:latin typeface="Calibri" panose="020F0502020204030204" pitchFamily="34" charset="0"/>
                <a:cs typeface="Calibri" panose="020F0502020204030204" pitchFamily="34" charset="0"/>
              </a:rPr>
              <a:t>    </a:t>
            </a:r>
            <a:r>
              <a:rPr lang="en-US" sz="900" dirty="0" err="1">
                <a:latin typeface="Calibri" panose="020F0502020204030204" pitchFamily="34" charset="0"/>
                <a:cs typeface="Calibri" panose="020F0502020204030204" pitchFamily="34" charset="0"/>
              </a:rPr>
              <a:t>numberOfOrders</a:t>
            </a:r>
            <a:endParaRPr lang="en-US" sz="900" dirty="0">
              <a:latin typeface="Calibri" panose="020F0502020204030204" pitchFamily="34" charset="0"/>
              <a:cs typeface="Calibri" panose="020F0502020204030204" pitchFamily="34" charset="0"/>
            </a:endParaRPr>
          </a:p>
          <a:p>
            <a:pPr algn="l"/>
            <a:r>
              <a:rPr lang="en-US" sz="900" dirty="0">
                <a:latin typeface="Calibri" panose="020F0502020204030204" pitchFamily="34" charset="0"/>
                <a:cs typeface="Calibri" panose="020F0502020204030204" pitchFamily="34" charset="0"/>
              </a:rPr>
              <a:t>ORDER BY </a:t>
            </a:r>
          </a:p>
          <a:p>
            <a:pPr algn="l"/>
            <a:r>
              <a:rPr lang="en-US" sz="900" dirty="0">
                <a:latin typeface="Calibri" panose="020F0502020204030204" pitchFamily="34" charset="0"/>
                <a:cs typeface="Calibri" panose="020F0502020204030204" pitchFamily="34" charset="0"/>
              </a:rPr>
              <a:t>    </a:t>
            </a:r>
            <a:r>
              <a:rPr lang="en-US" sz="900" dirty="0" err="1">
                <a:latin typeface="Calibri" panose="020F0502020204030204" pitchFamily="34" charset="0"/>
                <a:cs typeface="Calibri" panose="020F0502020204030204" pitchFamily="34" charset="0"/>
              </a:rPr>
              <a:t>numberOfOrders</a:t>
            </a:r>
            <a:r>
              <a:rPr lang="en-US" sz="900" dirty="0">
                <a:latin typeface="Calibri" panose="020F0502020204030204" pitchFamily="34" charset="0"/>
                <a:cs typeface="Calibri" panose="020F0502020204030204" pitchFamily="34" charset="0"/>
              </a:rPr>
              <a:t>;</a:t>
            </a:r>
          </a:p>
          <a:p>
            <a:pPr algn="l"/>
            <a:endParaRPr lang="en-IN" sz="1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6959" y="341528"/>
            <a:ext cx="5557650" cy="3057655"/>
          </a:xfrm>
          <a:prstGeom prst="rect">
            <a:avLst/>
          </a:prstGeom>
        </p:spPr>
      </p:pic>
      <p:sp>
        <p:nvSpPr>
          <p:cNvPr id="5" name="Rectangle 4"/>
          <p:cNvSpPr/>
          <p:nvPr/>
        </p:nvSpPr>
        <p:spPr>
          <a:xfrm>
            <a:off x="16996" y="3740762"/>
            <a:ext cx="3309300" cy="738664"/>
          </a:xfrm>
          <a:prstGeom prst="rect">
            <a:avLst/>
          </a:prstGeom>
        </p:spPr>
        <p:txBody>
          <a:bodyPr wrap="square">
            <a:spAutoFit/>
          </a:bodyPr>
          <a:lstStyle/>
          <a:p>
            <a:r>
              <a:rPr lang="en-IN" sz="1050" dirty="0">
                <a:solidFill>
                  <a:srgbClr val="141414"/>
                </a:solidFill>
                <a:latin typeface="Calibri" panose="020F0502020204030204" pitchFamily="34" charset="0"/>
                <a:cs typeface="Calibri" panose="020F0502020204030204" pitchFamily="34" charset="0"/>
              </a:rPr>
              <a:t>Engagement Depth </a:t>
            </a:r>
            <a:r>
              <a:rPr lang="en-IN" sz="1050" dirty="0" smtClean="0">
                <a:solidFill>
                  <a:srgbClr val="141414"/>
                </a:solidFill>
                <a:latin typeface="Calibri" panose="020F0502020204030204" pitchFamily="34" charset="0"/>
                <a:cs typeface="Calibri" panose="020F0502020204030204" pitchFamily="34" charset="0"/>
              </a:rPr>
              <a:t>Analysis : </a:t>
            </a:r>
          </a:p>
          <a:p>
            <a:r>
              <a:rPr lang="en-US" sz="1050" dirty="0" smtClean="0">
                <a:latin typeface="Calibri" panose="020F0502020204030204" pitchFamily="34" charset="0"/>
                <a:cs typeface="Calibri" panose="020F0502020204030204" pitchFamily="34" charset="0"/>
              </a:rPr>
              <a:t>1.As </a:t>
            </a:r>
            <a:r>
              <a:rPr lang="en-US" sz="1050" dirty="0">
                <a:latin typeface="Calibri" panose="020F0502020204030204" pitchFamily="34" charset="0"/>
                <a:cs typeface="Calibri" panose="020F0502020204030204" pitchFamily="34" charset="0"/>
              </a:rPr>
              <a:t>the Number of </a:t>
            </a:r>
            <a:r>
              <a:rPr lang="en-US" sz="1050" dirty="0">
                <a:solidFill>
                  <a:schemeClr val="accent3">
                    <a:lumMod val="50000"/>
                    <a:lumOff val="50000"/>
                  </a:schemeClr>
                </a:solidFill>
                <a:latin typeface="Calibri" panose="020F0502020204030204" pitchFamily="34" charset="0"/>
                <a:cs typeface="Calibri" panose="020F0502020204030204" pitchFamily="34" charset="0"/>
              </a:rPr>
              <a:t>orders increases</a:t>
            </a:r>
            <a:r>
              <a:rPr lang="en-US" sz="1050" dirty="0">
                <a:latin typeface="Calibri" panose="020F0502020204030204" pitchFamily="34" charset="0"/>
                <a:cs typeface="Calibri" panose="020F0502020204030204" pitchFamily="34" charset="0"/>
              </a:rPr>
              <a:t>, the </a:t>
            </a:r>
            <a:r>
              <a:rPr lang="en-US" sz="1050" dirty="0">
                <a:solidFill>
                  <a:schemeClr val="accent3">
                    <a:lumMod val="75000"/>
                    <a:lumOff val="25000"/>
                  </a:schemeClr>
                </a:solidFill>
                <a:latin typeface="Calibri" panose="020F0502020204030204" pitchFamily="34" charset="0"/>
                <a:cs typeface="Calibri" panose="020F0502020204030204" pitchFamily="34" charset="0"/>
              </a:rPr>
              <a:t>Customer count decreases</a:t>
            </a:r>
            <a:r>
              <a:rPr lang="en-US" sz="1100" dirty="0">
                <a:latin typeface="Calibri" panose="020F0502020204030204" pitchFamily="34" charset="0"/>
                <a:cs typeface="Calibri" panose="020F0502020204030204" pitchFamily="34" charset="0"/>
              </a:rPr>
              <a:t>. </a:t>
            </a:r>
            <a:endParaRPr lang="en-US" sz="1100" dirty="0" smtClean="0">
              <a:latin typeface="Calibri" panose="020F0502020204030204" pitchFamily="34" charset="0"/>
              <a:cs typeface="Calibri" panose="020F0502020204030204" pitchFamily="34" charset="0"/>
            </a:endParaRPr>
          </a:p>
          <a:p>
            <a:r>
              <a:rPr lang="en-US" sz="1000" dirty="0" smtClean="0">
                <a:solidFill>
                  <a:schemeClr val="accent3">
                    <a:lumMod val="75000"/>
                    <a:lumOff val="25000"/>
                  </a:schemeClr>
                </a:solidFill>
                <a:latin typeface="Calibri" panose="020F0502020204030204" pitchFamily="34" charset="0"/>
                <a:cs typeface="Calibri" panose="020F0502020204030204" pitchFamily="34" charset="0"/>
              </a:rPr>
              <a:t>2. Occasional Shoppers experiences </a:t>
            </a:r>
            <a:r>
              <a:rPr lang="en-US" sz="1000" dirty="0">
                <a:solidFill>
                  <a:schemeClr val="accent3">
                    <a:lumMod val="75000"/>
                    <a:lumOff val="25000"/>
                  </a:schemeClr>
                </a:solidFill>
                <a:latin typeface="Calibri" panose="020F0502020204030204" pitchFamily="34" charset="0"/>
                <a:cs typeface="Calibri" panose="020F0502020204030204" pitchFamily="34" charset="0"/>
              </a:rPr>
              <a:t>the </a:t>
            </a:r>
            <a:r>
              <a:rPr lang="en-US" sz="1000" dirty="0" smtClean="0">
                <a:solidFill>
                  <a:schemeClr val="accent3">
                    <a:lumMod val="75000"/>
                    <a:lumOff val="25000"/>
                  </a:schemeClr>
                </a:solidFill>
                <a:latin typeface="Calibri" panose="020F0502020204030204" pitchFamily="34" charset="0"/>
                <a:cs typeface="Calibri" panose="020F0502020204030204" pitchFamily="34" charset="0"/>
              </a:rPr>
              <a:t>most </a:t>
            </a:r>
            <a:endParaRPr lang="en-IN" sz="1000" dirty="0">
              <a:solidFill>
                <a:schemeClr val="accent3">
                  <a:lumMod val="75000"/>
                  <a:lumOff val="25000"/>
                </a:schemeClr>
              </a:solidFill>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3"/>
          <a:stretch>
            <a:fillRect/>
          </a:stretch>
        </p:blipFill>
        <p:spPr>
          <a:xfrm>
            <a:off x="3486959" y="3584713"/>
            <a:ext cx="5445401" cy="1475556"/>
          </a:xfrm>
          <a:prstGeom prst="rect">
            <a:avLst/>
          </a:prstGeom>
        </p:spPr>
      </p:pic>
    </p:spTree>
    <p:extLst>
      <p:ext uri="{BB962C8B-B14F-4D97-AF65-F5344CB8AC3E}">
        <p14:creationId xmlns:p14="http://schemas.microsoft.com/office/powerpoint/2010/main" val="1453506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6" y="0"/>
            <a:ext cx="8918257" cy="307778"/>
          </a:xfrm>
        </p:spPr>
        <p:txBody>
          <a:bodyPr/>
          <a:lstStyle/>
          <a:p>
            <a:pPr algn="l"/>
            <a:r>
              <a:rPr lang="en-US" sz="1100" b="0" dirty="0" smtClean="0">
                <a:latin typeface="Calibri" panose="020F0502020204030204" pitchFamily="34" charset="0"/>
                <a:cs typeface="Calibri" panose="020F0502020204030204" pitchFamily="34" charset="0"/>
              </a:rPr>
              <a:t> </a:t>
            </a:r>
            <a:r>
              <a:rPr lang="en-US" sz="1100" b="0" dirty="0">
                <a:latin typeface="Calibri" panose="020F0502020204030204" pitchFamily="34" charset="0"/>
                <a:cs typeface="Calibri" panose="020F0502020204030204" pitchFamily="34" charset="0"/>
              </a:rPr>
              <a:t>Identify products where the average purchase quantity per order is 2 but with a high total revenue, suggesting premium product trends.</a:t>
            </a:r>
            <a:endParaRPr lang="en-IN" sz="1100" dirty="0">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126352" y="463827"/>
            <a:ext cx="3199944" cy="2418522"/>
          </a:xfrm>
        </p:spPr>
        <p:txBody>
          <a:bodyPr/>
          <a:lstStyle/>
          <a:p>
            <a:pPr algn="l"/>
            <a:r>
              <a:rPr lang="en-US" sz="1050" dirty="0">
                <a:latin typeface="Calibri" panose="020F0502020204030204" pitchFamily="34" charset="0"/>
                <a:cs typeface="Calibri" panose="020F0502020204030204" pitchFamily="34" charset="0"/>
              </a:rPr>
              <a:t>SELECT</a:t>
            </a:r>
          </a:p>
          <a:p>
            <a:pPr algn="l"/>
            <a:r>
              <a:rPr lang="en-US" sz="1050" dirty="0">
                <a:latin typeface="Calibri" panose="020F0502020204030204" pitchFamily="34" charset="0"/>
                <a:cs typeface="Calibri" panose="020F0502020204030204" pitchFamily="34" charset="0"/>
              </a:rPr>
              <a:t>    </a:t>
            </a:r>
            <a:r>
              <a:rPr lang="en-US" sz="1050" dirty="0" err="1">
                <a:latin typeface="Calibri" panose="020F0502020204030204" pitchFamily="34" charset="0"/>
                <a:cs typeface="Calibri" panose="020F0502020204030204" pitchFamily="34" charset="0"/>
              </a:rPr>
              <a:t>product_id</a:t>
            </a:r>
            <a:r>
              <a:rPr lang="en-US" sz="1050" dirty="0">
                <a:latin typeface="Calibri" panose="020F0502020204030204" pitchFamily="34" charset="0"/>
                <a:cs typeface="Calibri" panose="020F0502020204030204" pitchFamily="34" charset="0"/>
              </a:rPr>
              <a:t>,</a:t>
            </a:r>
          </a:p>
          <a:p>
            <a:pPr algn="l"/>
            <a:r>
              <a:rPr lang="en-US" sz="1050" dirty="0">
                <a:latin typeface="Calibri" panose="020F0502020204030204" pitchFamily="34" charset="0"/>
                <a:cs typeface="Calibri" panose="020F0502020204030204" pitchFamily="34" charset="0"/>
              </a:rPr>
              <a:t>    AVG(quantity) AS </a:t>
            </a:r>
            <a:r>
              <a:rPr lang="en-US" sz="1050" dirty="0" err="1">
                <a:latin typeface="Calibri" panose="020F0502020204030204" pitchFamily="34" charset="0"/>
                <a:cs typeface="Calibri" panose="020F0502020204030204" pitchFamily="34" charset="0"/>
              </a:rPr>
              <a:t>AvgQuantity</a:t>
            </a:r>
            <a:r>
              <a:rPr lang="en-US" sz="1050" dirty="0">
                <a:latin typeface="Calibri" panose="020F0502020204030204" pitchFamily="34" charset="0"/>
                <a:cs typeface="Calibri" panose="020F0502020204030204" pitchFamily="34" charset="0"/>
              </a:rPr>
              <a:t>,</a:t>
            </a:r>
          </a:p>
          <a:p>
            <a:pPr algn="l"/>
            <a:r>
              <a:rPr lang="en-US" sz="1050" dirty="0">
                <a:latin typeface="Calibri" panose="020F0502020204030204" pitchFamily="34" charset="0"/>
                <a:cs typeface="Calibri" panose="020F0502020204030204" pitchFamily="34" charset="0"/>
              </a:rPr>
              <a:t>    SUM(quantity * </a:t>
            </a:r>
            <a:r>
              <a:rPr lang="en-US" sz="1050" dirty="0" err="1">
                <a:latin typeface="Calibri" panose="020F0502020204030204" pitchFamily="34" charset="0"/>
                <a:cs typeface="Calibri" panose="020F0502020204030204" pitchFamily="34" charset="0"/>
              </a:rPr>
              <a:t>price_per_unit</a:t>
            </a:r>
            <a:r>
              <a:rPr lang="en-US" sz="1050" dirty="0">
                <a:latin typeface="Calibri" panose="020F0502020204030204" pitchFamily="34" charset="0"/>
                <a:cs typeface="Calibri" panose="020F0502020204030204" pitchFamily="34" charset="0"/>
              </a:rPr>
              <a:t>) AS </a:t>
            </a:r>
            <a:r>
              <a:rPr lang="en-US" sz="1050" dirty="0" err="1">
                <a:latin typeface="Calibri" panose="020F0502020204030204" pitchFamily="34" charset="0"/>
                <a:cs typeface="Calibri" panose="020F0502020204030204" pitchFamily="34" charset="0"/>
              </a:rPr>
              <a:t>TotalRevenue</a:t>
            </a:r>
            <a:endParaRPr lang="en-US" sz="1050" dirty="0">
              <a:latin typeface="Calibri" panose="020F0502020204030204" pitchFamily="34" charset="0"/>
              <a:cs typeface="Calibri" panose="020F0502020204030204" pitchFamily="34" charset="0"/>
            </a:endParaRPr>
          </a:p>
          <a:p>
            <a:pPr algn="l"/>
            <a:r>
              <a:rPr lang="en-US" sz="1050" dirty="0">
                <a:latin typeface="Calibri" panose="020F0502020204030204" pitchFamily="34" charset="0"/>
                <a:cs typeface="Calibri" panose="020F0502020204030204" pitchFamily="34" charset="0"/>
              </a:rPr>
              <a:t>FROM</a:t>
            </a:r>
          </a:p>
          <a:p>
            <a:pPr algn="l"/>
            <a:r>
              <a:rPr lang="en-US" sz="1050" dirty="0">
                <a:latin typeface="Calibri" panose="020F0502020204030204" pitchFamily="34" charset="0"/>
                <a:cs typeface="Calibri" panose="020F0502020204030204" pitchFamily="34" charset="0"/>
              </a:rPr>
              <a:t>    </a:t>
            </a:r>
            <a:r>
              <a:rPr lang="en-US" sz="1050" dirty="0" err="1">
                <a:latin typeface="Calibri" panose="020F0502020204030204" pitchFamily="34" charset="0"/>
                <a:cs typeface="Calibri" panose="020F0502020204030204" pitchFamily="34" charset="0"/>
              </a:rPr>
              <a:t>OrderDetails</a:t>
            </a:r>
            <a:endParaRPr lang="en-US" sz="1050" dirty="0">
              <a:latin typeface="Calibri" panose="020F0502020204030204" pitchFamily="34" charset="0"/>
              <a:cs typeface="Calibri" panose="020F0502020204030204" pitchFamily="34" charset="0"/>
            </a:endParaRPr>
          </a:p>
          <a:p>
            <a:pPr algn="l"/>
            <a:r>
              <a:rPr lang="en-US" sz="1050" dirty="0">
                <a:latin typeface="Calibri" panose="020F0502020204030204" pitchFamily="34" charset="0"/>
                <a:cs typeface="Calibri" panose="020F0502020204030204" pitchFamily="34" charset="0"/>
              </a:rPr>
              <a:t>GROUP BY</a:t>
            </a:r>
          </a:p>
          <a:p>
            <a:pPr algn="l"/>
            <a:r>
              <a:rPr lang="en-US" sz="1050" dirty="0">
                <a:latin typeface="Calibri" panose="020F0502020204030204" pitchFamily="34" charset="0"/>
                <a:cs typeface="Calibri" panose="020F0502020204030204" pitchFamily="34" charset="0"/>
              </a:rPr>
              <a:t>    </a:t>
            </a:r>
            <a:r>
              <a:rPr lang="en-US" sz="1050" dirty="0" err="1">
                <a:latin typeface="Calibri" panose="020F0502020204030204" pitchFamily="34" charset="0"/>
                <a:cs typeface="Calibri" panose="020F0502020204030204" pitchFamily="34" charset="0"/>
              </a:rPr>
              <a:t>product_id</a:t>
            </a:r>
            <a:endParaRPr lang="en-US" sz="1050" dirty="0">
              <a:latin typeface="Calibri" panose="020F0502020204030204" pitchFamily="34" charset="0"/>
              <a:cs typeface="Calibri" panose="020F0502020204030204" pitchFamily="34" charset="0"/>
            </a:endParaRPr>
          </a:p>
          <a:p>
            <a:pPr algn="l"/>
            <a:r>
              <a:rPr lang="en-US" sz="1050" dirty="0">
                <a:latin typeface="Calibri" panose="020F0502020204030204" pitchFamily="34" charset="0"/>
                <a:cs typeface="Calibri" panose="020F0502020204030204" pitchFamily="34" charset="0"/>
              </a:rPr>
              <a:t>HAVING</a:t>
            </a:r>
          </a:p>
          <a:p>
            <a:pPr algn="l"/>
            <a:r>
              <a:rPr lang="en-US" sz="1050" dirty="0">
                <a:latin typeface="Calibri" panose="020F0502020204030204" pitchFamily="34" charset="0"/>
                <a:cs typeface="Calibri" panose="020F0502020204030204" pitchFamily="34" charset="0"/>
              </a:rPr>
              <a:t>    AVG(quantity) = 2   -- You could optionally use the alias here in some SQL dialects</a:t>
            </a:r>
          </a:p>
          <a:p>
            <a:pPr algn="l"/>
            <a:r>
              <a:rPr lang="en-US" sz="1050" dirty="0">
                <a:latin typeface="Calibri" panose="020F0502020204030204" pitchFamily="34" charset="0"/>
                <a:cs typeface="Calibri" panose="020F0502020204030204" pitchFamily="34" charset="0"/>
              </a:rPr>
              <a:t>ORDER BY</a:t>
            </a:r>
          </a:p>
          <a:p>
            <a:pPr algn="l"/>
            <a:r>
              <a:rPr lang="en-US" sz="1050" dirty="0">
                <a:latin typeface="Calibri" panose="020F0502020204030204" pitchFamily="34" charset="0"/>
                <a:cs typeface="Calibri" panose="020F0502020204030204" pitchFamily="34" charset="0"/>
              </a:rPr>
              <a:t>    </a:t>
            </a:r>
            <a:r>
              <a:rPr lang="en-US" sz="1050" dirty="0" err="1">
                <a:latin typeface="Calibri" panose="020F0502020204030204" pitchFamily="34" charset="0"/>
                <a:cs typeface="Calibri" panose="020F0502020204030204" pitchFamily="34" charset="0"/>
              </a:rPr>
              <a:t>TotalRevenue</a:t>
            </a:r>
            <a:r>
              <a:rPr lang="en-US" sz="1050" dirty="0">
                <a:latin typeface="Calibri" panose="020F0502020204030204" pitchFamily="34" charset="0"/>
                <a:cs typeface="Calibri" panose="020F0502020204030204" pitchFamily="34" charset="0"/>
              </a:rPr>
              <a:t> DESC;</a:t>
            </a:r>
          </a:p>
          <a:p>
            <a:pPr algn="l"/>
            <a:endParaRPr lang="en-IN" sz="100" dirty="0">
              <a:latin typeface="Calibri" panose="020F0502020204030204" pitchFamily="34" charset="0"/>
              <a:cs typeface="Calibri" panose="020F0502020204030204" pitchFamily="34" charset="0"/>
            </a:endParaRPr>
          </a:p>
        </p:txBody>
      </p:sp>
      <p:sp>
        <p:nvSpPr>
          <p:cNvPr id="5" name="Rectangle 4"/>
          <p:cNvSpPr/>
          <p:nvPr/>
        </p:nvSpPr>
        <p:spPr>
          <a:xfrm>
            <a:off x="16996" y="3495597"/>
            <a:ext cx="4674274" cy="246221"/>
          </a:xfrm>
          <a:prstGeom prst="rect">
            <a:avLst/>
          </a:prstGeom>
        </p:spPr>
        <p:txBody>
          <a:bodyPr wrap="square">
            <a:spAutoFit/>
          </a:bodyPr>
          <a:lstStyle/>
          <a:p>
            <a:r>
              <a:rPr lang="en-US" sz="1000" dirty="0" smtClean="0">
                <a:latin typeface="Calibri" panose="020F0502020204030204" pitchFamily="34" charset="0"/>
                <a:cs typeface="Calibri" panose="020F0502020204030204" pitchFamily="34" charset="0"/>
              </a:rPr>
              <a:t>An </a:t>
            </a:r>
            <a:r>
              <a:rPr lang="en-US" sz="1000" dirty="0">
                <a:latin typeface="Calibri" panose="020F0502020204030204" pitchFamily="34" charset="0"/>
                <a:cs typeface="Calibri" panose="020F0502020204030204" pitchFamily="34" charset="0"/>
              </a:rPr>
              <a:t>average purchase quantity of </a:t>
            </a:r>
            <a:r>
              <a:rPr lang="en-US" sz="1000" dirty="0" smtClean="0">
                <a:latin typeface="Calibri" panose="020F0502020204030204" pitchFamily="34" charset="0"/>
                <a:cs typeface="Calibri" panose="020F0502020204030204" pitchFamily="34" charset="0"/>
              </a:rPr>
              <a:t>two </a:t>
            </a:r>
            <a:r>
              <a:rPr lang="en-US" sz="1000" dirty="0" smtClean="0">
                <a:solidFill>
                  <a:schemeClr val="accent3">
                    <a:lumMod val="75000"/>
                    <a:lumOff val="25000"/>
                  </a:schemeClr>
                </a:solidFill>
                <a:latin typeface="Calibri" panose="020F0502020204030204" pitchFamily="34" charset="0"/>
                <a:cs typeface="Calibri" panose="020F0502020204030204" pitchFamily="34" charset="0"/>
              </a:rPr>
              <a:t>Product 1</a:t>
            </a:r>
            <a:r>
              <a:rPr lang="en-US" sz="1000" dirty="0" smtClean="0">
                <a:latin typeface="Calibri" panose="020F0502020204030204" pitchFamily="34" charset="0"/>
                <a:cs typeface="Calibri" panose="020F0502020204030204" pitchFamily="34" charset="0"/>
              </a:rPr>
              <a:t> exhibit </a:t>
            </a:r>
            <a:r>
              <a:rPr lang="en-US" sz="1000" dirty="0">
                <a:latin typeface="Calibri" panose="020F0502020204030204" pitchFamily="34" charset="0"/>
                <a:cs typeface="Calibri" panose="020F0502020204030204" pitchFamily="34" charset="0"/>
              </a:rPr>
              <a:t>the highest total </a:t>
            </a:r>
            <a:r>
              <a:rPr lang="en-US" sz="1000" dirty="0" smtClean="0">
                <a:latin typeface="Calibri" panose="020F0502020204030204" pitchFamily="34" charset="0"/>
                <a:cs typeface="Calibri" panose="020F0502020204030204" pitchFamily="34" charset="0"/>
              </a:rPr>
              <a:t>revenue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9184" y="463827"/>
            <a:ext cx="5651145" cy="2789582"/>
          </a:xfrm>
          <a:prstGeom prst="rect">
            <a:avLst/>
          </a:prstGeom>
        </p:spPr>
      </p:pic>
    </p:spTree>
    <p:extLst>
      <p:ext uri="{BB962C8B-B14F-4D97-AF65-F5344CB8AC3E}">
        <p14:creationId xmlns:p14="http://schemas.microsoft.com/office/powerpoint/2010/main" val="1215740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6352" y="463827"/>
            <a:ext cx="2239161" cy="2683564"/>
          </a:xfrm>
        </p:spPr>
        <p:txBody>
          <a:bodyPr/>
          <a:lstStyle/>
          <a:p>
            <a:pPr algn="l"/>
            <a:r>
              <a:rPr lang="en-IN" sz="1000" dirty="0">
                <a:latin typeface="Calibri" panose="020F0502020204030204" pitchFamily="34" charset="0"/>
                <a:cs typeface="Calibri" panose="020F0502020204030204" pitchFamily="34" charset="0"/>
              </a:rPr>
              <a:t>SELECT</a:t>
            </a:r>
          </a:p>
          <a:p>
            <a:pPr algn="l"/>
            <a:r>
              <a:rPr lang="en-IN" sz="1000" dirty="0">
                <a:latin typeface="Calibri" panose="020F0502020204030204" pitchFamily="34" charset="0"/>
                <a:cs typeface="Calibri" panose="020F0502020204030204" pitchFamily="34" charset="0"/>
              </a:rPr>
              <a:t>    </a:t>
            </a:r>
            <a:r>
              <a:rPr lang="en-IN" sz="1000" dirty="0" err="1">
                <a:latin typeface="Calibri" panose="020F0502020204030204" pitchFamily="34" charset="0"/>
                <a:cs typeface="Calibri" panose="020F0502020204030204" pitchFamily="34" charset="0"/>
              </a:rPr>
              <a:t>p.category</a:t>
            </a:r>
            <a:r>
              <a:rPr lang="en-IN" sz="1000" dirty="0">
                <a:latin typeface="Calibri" panose="020F0502020204030204" pitchFamily="34" charset="0"/>
                <a:cs typeface="Calibri" panose="020F0502020204030204" pitchFamily="34" charset="0"/>
              </a:rPr>
              <a:t>,</a:t>
            </a:r>
          </a:p>
          <a:p>
            <a:pPr algn="l"/>
            <a:r>
              <a:rPr lang="en-IN" sz="1000" dirty="0">
                <a:latin typeface="Calibri" panose="020F0502020204030204" pitchFamily="34" charset="0"/>
                <a:cs typeface="Calibri" panose="020F0502020204030204" pitchFamily="34" charset="0"/>
              </a:rPr>
              <a:t>    COUNT(DISTINCT </a:t>
            </a:r>
            <a:r>
              <a:rPr lang="en-IN" sz="1000" dirty="0" err="1">
                <a:latin typeface="Calibri" panose="020F0502020204030204" pitchFamily="34" charset="0"/>
                <a:cs typeface="Calibri" panose="020F0502020204030204" pitchFamily="34" charset="0"/>
              </a:rPr>
              <a:t>o.customer_id</a:t>
            </a:r>
            <a:r>
              <a:rPr lang="en-IN" sz="1000" dirty="0">
                <a:latin typeface="Calibri" panose="020F0502020204030204" pitchFamily="34" charset="0"/>
                <a:cs typeface="Calibri" panose="020F0502020204030204" pitchFamily="34" charset="0"/>
              </a:rPr>
              <a:t>) AS </a:t>
            </a:r>
            <a:r>
              <a:rPr lang="en-IN" sz="1000" dirty="0" err="1">
                <a:latin typeface="Calibri" panose="020F0502020204030204" pitchFamily="34" charset="0"/>
                <a:cs typeface="Calibri" panose="020F0502020204030204" pitchFamily="34" charset="0"/>
              </a:rPr>
              <a:t>unique_customers</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FROM</a:t>
            </a:r>
          </a:p>
          <a:p>
            <a:pPr algn="l"/>
            <a:r>
              <a:rPr lang="en-IN" sz="1000" dirty="0">
                <a:latin typeface="Calibri" panose="020F0502020204030204" pitchFamily="34" charset="0"/>
                <a:cs typeface="Calibri" panose="020F0502020204030204" pitchFamily="34" charset="0"/>
              </a:rPr>
              <a:t>    Orders o</a:t>
            </a:r>
          </a:p>
          <a:p>
            <a:pPr algn="l"/>
            <a:r>
              <a:rPr lang="en-IN" sz="1000" dirty="0">
                <a:latin typeface="Calibri" panose="020F0502020204030204" pitchFamily="34" charset="0"/>
                <a:cs typeface="Calibri" panose="020F0502020204030204" pitchFamily="34" charset="0"/>
              </a:rPr>
              <a:t>JOIN</a:t>
            </a:r>
          </a:p>
          <a:p>
            <a:pPr algn="l"/>
            <a:r>
              <a:rPr lang="en-IN" sz="1000" dirty="0">
                <a:latin typeface="Calibri" panose="020F0502020204030204" pitchFamily="34" charset="0"/>
                <a:cs typeface="Calibri" panose="020F0502020204030204" pitchFamily="34" charset="0"/>
              </a:rPr>
              <a:t>    </a:t>
            </a:r>
            <a:r>
              <a:rPr lang="en-IN" sz="1000" dirty="0" err="1">
                <a:latin typeface="Calibri" panose="020F0502020204030204" pitchFamily="34" charset="0"/>
                <a:cs typeface="Calibri" panose="020F0502020204030204" pitchFamily="34" charset="0"/>
              </a:rPr>
              <a:t>OrderDetails</a:t>
            </a:r>
            <a:r>
              <a:rPr lang="en-IN" sz="1000" dirty="0">
                <a:latin typeface="Calibri" panose="020F0502020204030204" pitchFamily="34" charset="0"/>
                <a:cs typeface="Calibri" panose="020F0502020204030204" pitchFamily="34" charset="0"/>
              </a:rPr>
              <a:t> od ON </a:t>
            </a:r>
            <a:r>
              <a:rPr lang="en-IN" sz="1000" dirty="0" err="1">
                <a:latin typeface="Calibri" panose="020F0502020204030204" pitchFamily="34" charset="0"/>
                <a:cs typeface="Calibri" panose="020F0502020204030204" pitchFamily="34" charset="0"/>
              </a:rPr>
              <a:t>o.order_id</a:t>
            </a:r>
            <a:r>
              <a:rPr lang="en-IN" sz="1000" dirty="0">
                <a:latin typeface="Calibri" panose="020F0502020204030204" pitchFamily="34" charset="0"/>
                <a:cs typeface="Calibri" panose="020F0502020204030204" pitchFamily="34" charset="0"/>
              </a:rPr>
              <a:t> = </a:t>
            </a:r>
            <a:r>
              <a:rPr lang="en-IN" sz="1000" dirty="0" err="1">
                <a:latin typeface="Calibri" panose="020F0502020204030204" pitchFamily="34" charset="0"/>
                <a:cs typeface="Calibri" panose="020F0502020204030204" pitchFamily="34" charset="0"/>
              </a:rPr>
              <a:t>od.order_id</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JOIN</a:t>
            </a:r>
          </a:p>
          <a:p>
            <a:pPr algn="l"/>
            <a:r>
              <a:rPr lang="en-IN" sz="1000" dirty="0">
                <a:latin typeface="Calibri" panose="020F0502020204030204" pitchFamily="34" charset="0"/>
                <a:cs typeface="Calibri" panose="020F0502020204030204" pitchFamily="34" charset="0"/>
              </a:rPr>
              <a:t>    Products p ON </a:t>
            </a:r>
            <a:r>
              <a:rPr lang="en-IN" sz="1000" dirty="0" err="1">
                <a:latin typeface="Calibri" panose="020F0502020204030204" pitchFamily="34" charset="0"/>
                <a:cs typeface="Calibri" panose="020F0502020204030204" pitchFamily="34" charset="0"/>
              </a:rPr>
              <a:t>od.product_id</a:t>
            </a:r>
            <a:r>
              <a:rPr lang="en-IN" sz="1000" dirty="0">
                <a:latin typeface="Calibri" panose="020F0502020204030204" pitchFamily="34" charset="0"/>
                <a:cs typeface="Calibri" panose="020F0502020204030204" pitchFamily="34" charset="0"/>
              </a:rPr>
              <a:t> = </a:t>
            </a:r>
            <a:r>
              <a:rPr lang="en-IN" sz="1000" dirty="0" err="1">
                <a:latin typeface="Calibri" panose="020F0502020204030204" pitchFamily="34" charset="0"/>
                <a:cs typeface="Calibri" panose="020F0502020204030204" pitchFamily="34" charset="0"/>
              </a:rPr>
              <a:t>p.product_id</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GROUP BY</a:t>
            </a:r>
          </a:p>
          <a:p>
            <a:pPr algn="l"/>
            <a:r>
              <a:rPr lang="en-IN" sz="1000" dirty="0">
                <a:latin typeface="Calibri" panose="020F0502020204030204" pitchFamily="34" charset="0"/>
                <a:cs typeface="Calibri" panose="020F0502020204030204" pitchFamily="34" charset="0"/>
              </a:rPr>
              <a:t>    </a:t>
            </a:r>
            <a:r>
              <a:rPr lang="en-IN" sz="1000" dirty="0" err="1">
                <a:latin typeface="Calibri" panose="020F0502020204030204" pitchFamily="34" charset="0"/>
                <a:cs typeface="Calibri" panose="020F0502020204030204" pitchFamily="34" charset="0"/>
              </a:rPr>
              <a:t>p.category</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ORDER BY</a:t>
            </a:r>
          </a:p>
          <a:p>
            <a:pPr algn="l"/>
            <a:r>
              <a:rPr lang="en-IN" sz="1000" dirty="0">
                <a:latin typeface="Calibri" panose="020F0502020204030204" pitchFamily="34" charset="0"/>
                <a:cs typeface="Calibri" panose="020F0502020204030204" pitchFamily="34" charset="0"/>
              </a:rPr>
              <a:t>    </a:t>
            </a:r>
            <a:r>
              <a:rPr lang="en-IN" sz="1000" dirty="0" err="1">
                <a:latin typeface="Calibri" panose="020F0502020204030204" pitchFamily="34" charset="0"/>
                <a:cs typeface="Calibri" panose="020F0502020204030204" pitchFamily="34" charset="0"/>
              </a:rPr>
              <a:t>unique_customers</a:t>
            </a:r>
            <a:r>
              <a:rPr lang="en-IN" sz="1000" dirty="0">
                <a:latin typeface="Calibri" panose="020F0502020204030204" pitchFamily="34" charset="0"/>
                <a:cs typeface="Calibri" panose="020F0502020204030204" pitchFamily="34" charset="0"/>
              </a:rPr>
              <a:t> DESC;</a:t>
            </a:r>
          </a:p>
          <a:p>
            <a:pPr algn="l"/>
            <a:endParaRPr lang="en-IN" sz="1000" dirty="0">
              <a:latin typeface="Calibri" panose="020F0502020204030204" pitchFamily="34" charset="0"/>
              <a:cs typeface="Calibri" panose="020F0502020204030204" pitchFamily="34" charset="0"/>
            </a:endParaRPr>
          </a:p>
        </p:txBody>
      </p:sp>
      <p:sp>
        <p:nvSpPr>
          <p:cNvPr id="5" name="Rectangle 4"/>
          <p:cNvSpPr/>
          <p:nvPr/>
        </p:nvSpPr>
        <p:spPr>
          <a:xfrm>
            <a:off x="-1" y="3879910"/>
            <a:ext cx="5267739" cy="261610"/>
          </a:xfrm>
          <a:prstGeom prst="rect">
            <a:avLst/>
          </a:prstGeom>
        </p:spPr>
        <p:txBody>
          <a:bodyPr wrap="square">
            <a:spAutoFit/>
          </a:bodyPr>
          <a:lstStyle/>
          <a:p>
            <a:r>
              <a:rPr lang="en-US" sz="1100" dirty="0" smtClean="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Electronics</a:t>
            </a:r>
            <a:r>
              <a:rPr lang="en-US" sz="1100" dirty="0" smtClean="0">
                <a:latin typeface="Calibri" panose="020F0502020204030204" pitchFamily="34" charset="0"/>
                <a:cs typeface="Calibri" panose="020F0502020204030204" pitchFamily="34" charset="0"/>
              </a:rPr>
              <a:t> </a:t>
            </a:r>
            <a:r>
              <a:rPr lang="en-US" sz="1100" dirty="0">
                <a:latin typeface="Calibri" panose="020F0502020204030204" pitchFamily="34" charset="0"/>
                <a:cs typeface="Calibri" panose="020F0502020204030204" pitchFamily="34" charset="0"/>
              </a:rPr>
              <a:t>category needs more focus as it is in high demand among the customers</a:t>
            </a:r>
            <a:endParaRPr lang="en-US" sz="1100"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73343" y="46383"/>
            <a:ext cx="8784829" cy="417444"/>
          </a:xfrm>
        </p:spPr>
        <p:txBody>
          <a:bodyPr/>
          <a:lstStyle/>
          <a:p>
            <a:pPr algn="l"/>
            <a:r>
              <a:rPr lang="en-US" sz="1000" b="0" dirty="0">
                <a:latin typeface="Calibri" panose="020F0502020204030204" pitchFamily="34" charset="0"/>
                <a:cs typeface="Calibri" panose="020F0502020204030204" pitchFamily="34" charset="0"/>
              </a:rPr>
              <a:t>For each product category, calculate the unique number of customers purchasing from it. This will help understand which categories have wider appeal across the customer base</a:t>
            </a:r>
            <a:r>
              <a:rPr lang="en-US" sz="1000" b="0" dirty="0" smtClean="0">
                <a:latin typeface="Calibri" panose="020F0502020204030204" pitchFamily="34" charset="0"/>
                <a:cs typeface="Calibri" panose="020F0502020204030204" pitchFamily="34" charset="0"/>
              </a:rPr>
              <a:t>. </a:t>
            </a:r>
            <a:r>
              <a:rPr lang="en-IN" sz="1000" b="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Category-wise Customer Reach </a:t>
            </a:r>
            <a:endParaRPr lang="en-IN" sz="3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6817" y="393717"/>
            <a:ext cx="6358456" cy="2992214"/>
          </a:xfrm>
          <a:prstGeom prst="rect">
            <a:avLst/>
          </a:prstGeom>
        </p:spPr>
      </p:pic>
    </p:spTree>
    <p:extLst>
      <p:ext uri="{BB962C8B-B14F-4D97-AF65-F5344CB8AC3E}">
        <p14:creationId xmlns:p14="http://schemas.microsoft.com/office/powerpoint/2010/main" val="18346289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6352" y="463827"/>
            <a:ext cx="6247944" cy="2060712"/>
          </a:xfrm>
        </p:spPr>
        <p:txBody>
          <a:bodyPr/>
          <a:lstStyle/>
          <a:p>
            <a:pPr algn="l"/>
            <a:r>
              <a:rPr lang="en-US" sz="1000" dirty="0">
                <a:latin typeface="Calibri" panose="020F0502020204030204" pitchFamily="34" charset="0"/>
                <a:cs typeface="Calibri" panose="020F0502020204030204" pitchFamily="34" charset="0"/>
              </a:rPr>
              <a:t>SELECT</a:t>
            </a:r>
          </a:p>
          <a:p>
            <a:pPr algn="l"/>
            <a:r>
              <a:rPr lang="en-US" sz="1000" dirty="0">
                <a:latin typeface="Calibri" panose="020F0502020204030204" pitchFamily="34" charset="0"/>
                <a:cs typeface="Calibri" panose="020F0502020204030204" pitchFamily="34" charset="0"/>
              </a:rPr>
              <a:t>    DATE_FORMAT(</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'%Y-%m') AS month,</a:t>
            </a:r>
          </a:p>
          <a:p>
            <a:pPr algn="l"/>
            <a:r>
              <a:rPr lang="en-US" sz="1000" dirty="0">
                <a:latin typeface="Calibri" panose="020F0502020204030204" pitchFamily="34" charset="0"/>
                <a:cs typeface="Calibri" panose="020F0502020204030204" pitchFamily="34" charset="0"/>
              </a:rPr>
              <a:t>    SUM(</a:t>
            </a:r>
            <a:r>
              <a:rPr lang="en-US" sz="1000" dirty="0" err="1">
                <a:latin typeface="Calibri" panose="020F0502020204030204" pitchFamily="34" charset="0"/>
                <a:cs typeface="Calibri" panose="020F0502020204030204" pitchFamily="34" charset="0"/>
              </a:rPr>
              <a:t>total_amount</a:t>
            </a:r>
            <a:r>
              <a:rPr lang="en-US" sz="1000" dirty="0">
                <a:latin typeface="Calibri" panose="020F0502020204030204" pitchFamily="34" charset="0"/>
                <a:cs typeface="Calibri" panose="020F0502020204030204" pitchFamily="34" charset="0"/>
              </a:rPr>
              <a:t>) AS </a:t>
            </a:r>
            <a:r>
              <a:rPr lang="en-US" sz="1000" dirty="0" err="1">
                <a:latin typeface="Calibri" panose="020F0502020204030204" pitchFamily="34" charset="0"/>
                <a:cs typeface="Calibri" panose="020F0502020204030204" pitchFamily="34" charset="0"/>
              </a:rPr>
              <a:t>TotalSales</a:t>
            </a:r>
            <a:r>
              <a:rPr lang="en-US" sz="1000" dirty="0">
                <a:latin typeface="Calibri" panose="020F0502020204030204" pitchFamily="34" charset="0"/>
                <a:cs typeface="Calibri" panose="020F0502020204030204" pitchFamily="34" charset="0"/>
              </a:rPr>
              <a:t>,</a:t>
            </a:r>
          </a:p>
          <a:p>
            <a:pPr algn="l"/>
            <a:r>
              <a:rPr lang="en-US" sz="1000" dirty="0">
                <a:latin typeface="Calibri" panose="020F0502020204030204" pitchFamily="34" charset="0"/>
                <a:cs typeface="Calibri" panose="020F0502020204030204" pitchFamily="34" charset="0"/>
              </a:rPr>
              <a:t>    ROUND(</a:t>
            </a:r>
          </a:p>
          <a:p>
            <a:pPr algn="l"/>
            <a:r>
              <a:rPr lang="en-US" sz="1000" dirty="0">
                <a:latin typeface="Calibri" panose="020F0502020204030204" pitchFamily="34" charset="0"/>
                <a:cs typeface="Calibri" panose="020F0502020204030204" pitchFamily="34" charset="0"/>
              </a:rPr>
              <a:t>        (SUM(</a:t>
            </a:r>
            <a:r>
              <a:rPr lang="en-US" sz="1000" dirty="0" err="1">
                <a:latin typeface="Calibri" panose="020F0502020204030204" pitchFamily="34" charset="0"/>
                <a:cs typeface="Calibri" panose="020F0502020204030204" pitchFamily="34" charset="0"/>
              </a:rPr>
              <a:t>total_amount</a:t>
            </a:r>
            <a:r>
              <a:rPr lang="en-US" sz="1000" dirty="0">
                <a:latin typeface="Calibri" panose="020F0502020204030204" pitchFamily="34" charset="0"/>
                <a:cs typeface="Calibri" panose="020F0502020204030204" pitchFamily="34" charset="0"/>
              </a:rPr>
              <a:t>) - LAG(SUM(</a:t>
            </a:r>
            <a:r>
              <a:rPr lang="en-US" sz="1000" dirty="0" err="1">
                <a:latin typeface="Calibri" panose="020F0502020204030204" pitchFamily="34" charset="0"/>
                <a:cs typeface="Calibri" panose="020F0502020204030204" pitchFamily="34" charset="0"/>
              </a:rPr>
              <a:t>total_amount</a:t>
            </a:r>
            <a:r>
              <a:rPr lang="en-US" sz="1000" dirty="0">
                <a:latin typeface="Calibri" panose="020F0502020204030204" pitchFamily="34" charset="0"/>
                <a:cs typeface="Calibri" panose="020F0502020204030204" pitchFamily="34" charset="0"/>
              </a:rPr>
              <a:t>)) OVER (ORDER BY DATE_FORMAT(</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'%Y-%m'))) </a:t>
            </a:r>
          </a:p>
          <a:p>
            <a:pPr algn="l"/>
            <a:r>
              <a:rPr lang="en-US" sz="1000" dirty="0">
                <a:latin typeface="Calibri" panose="020F0502020204030204" pitchFamily="34" charset="0"/>
                <a:cs typeface="Calibri" panose="020F0502020204030204" pitchFamily="34" charset="0"/>
              </a:rPr>
              <a:t>        / LAG(SUM(</a:t>
            </a:r>
            <a:r>
              <a:rPr lang="en-US" sz="1000" dirty="0" err="1">
                <a:latin typeface="Calibri" panose="020F0502020204030204" pitchFamily="34" charset="0"/>
                <a:cs typeface="Calibri" panose="020F0502020204030204" pitchFamily="34" charset="0"/>
              </a:rPr>
              <a:t>total_amount</a:t>
            </a:r>
            <a:r>
              <a:rPr lang="en-US" sz="1000" dirty="0">
                <a:latin typeface="Calibri" panose="020F0502020204030204" pitchFamily="34" charset="0"/>
                <a:cs typeface="Calibri" panose="020F0502020204030204" pitchFamily="34" charset="0"/>
              </a:rPr>
              <a:t>)) OVER (ORDER BY DATE_FORMAT(</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'%Y-%m')) * 100, </a:t>
            </a:r>
          </a:p>
          <a:p>
            <a:pPr algn="l"/>
            <a:r>
              <a:rPr lang="en-US" sz="1000" dirty="0">
                <a:latin typeface="Calibri" panose="020F0502020204030204" pitchFamily="34" charset="0"/>
                <a:cs typeface="Calibri" panose="020F0502020204030204" pitchFamily="34" charset="0"/>
              </a:rPr>
              <a:t>    2) AS </a:t>
            </a:r>
            <a:r>
              <a:rPr lang="en-US" sz="1000" dirty="0" err="1">
                <a:latin typeface="Calibri" panose="020F0502020204030204" pitchFamily="34" charset="0"/>
                <a:cs typeface="Calibri" panose="020F0502020204030204" pitchFamily="34" charset="0"/>
              </a:rPr>
              <a:t>PercentChange</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FROM</a:t>
            </a:r>
          </a:p>
          <a:p>
            <a:pPr algn="l"/>
            <a:r>
              <a:rPr lang="en-US" sz="1000" dirty="0">
                <a:latin typeface="Calibri" panose="020F0502020204030204" pitchFamily="34" charset="0"/>
                <a:cs typeface="Calibri" panose="020F0502020204030204" pitchFamily="34" charset="0"/>
              </a:rPr>
              <a:t>    Orders</a:t>
            </a:r>
          </a:p>
          <a:p>
            <a:pPr algn="l"/>
            <a:r>
              <a:rPr lang="en-US" sz="1000" dirty="0">
                <a:latin typeface="Calibri" panose="020F0502020204030204" pitchFamily="34" charset="0"/>
                <a:cs typeface="Calibri" panose="020F0502020204030204" pitchFamily="34" charset="0"/>
              </a:rPr>
              <a:t>GROUP BY</a:t>
            </a:r>
          </a:p>
          <a:p>
            <a:pPr algn="l"/>
            <a:r>
              <a:rPr lang="en-US" sz="1000" dirty="0">
                <a:latin typeface="Calibri" panose="020F0502020204030204" pitchFamily="34" charset="0"/>
                <a:cs typeface="Calibri" panose="020F0502020204030204" pitchFamily="34" charset="0"/>
              </a:rPr>
              <a:t>    DATE_FORMAT(</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'%Y-%m')</a:t>
            </a:r>
          </a:p>
          <a:p>
            <a:pPr algn="l"/>
            <a:r>
              <a:rPr lang="en-US" sz="1000" dirty="0">
                <a:latin typeface="Calibri" panose="020F0502020204030204" pitchFamily="34" charset="0"/>
                <a:cs typeface="Calibri" panose="020F0502020204030204" pitchFamily="34" charset="0"/>
              </a:rPr>
              <a:t>ORDER BY</a:t>
            </a:r>
          </a:p>
          <a:p>
            <a:pPr algn="l"/>
            <a:r>
              <a:rPr lang="en-US" sz="1000" dirty="0">
                <a:latin typeface="Calibri" panose="020F0502020204030204" pitchFamily="34" charset="0"/>
                <a:cs typeface="Calibri" panose="020F0502020204030204" pitchFamily="34" charset="0"/>
              </a:rPr>
              <a:t>    month;</a:t>
            </a:r>
          </a:p>
          <a:p>
            <a:pPr algn="l"/>
            <a:endParaRPr lang="en-IN" sz="200" dirty="0">
              <a:latin typeface="Calibri" panose="020F0502020204030204" pitchFamily="34" charset="0"/>
              <a:cs typeface="Calibri" panose="020F0502020204030204" pitchFamily="34" charset="0"/>
            </a:endParaRPr>
          </a:p>
        </p:txBody>
      </p:sp>
      <p:sp>
        <p:nvSpPr>
          <p:cNvPr id="5" name="Rectangle 4"/>
          <p:cNvSpPr/>
          <p:nvPr/>
        </p:nvSpPr>
        <p:spPr>
          <a:xfrm>
            <a:off x="6175513" y="619875"/>
            <a:ext cx="2325757" cy="900246"/>
          </a:xfrm>
          <a:prstGeom prst="rect">
            <a:avLst/>
          </a:prstGeom>
        </p:spPr>
        <p:txBody>
          <a:bodyPr wrap="square">
            <a:spAutoFit/>
          </a:bodyPr>
          <a:lstStyle/>
          <a:p>
            <a:r>
              <a:rPr lang="en-US" sz="1050" dirty="0">
                <a:latin typeface="Calibri" panose="020F0502020204030204" pitchFamily="34" charset="0"/>
                <a:cs typeface="Calibri" panose="020F0502020204030204" pitchFamily="34" charset="0"/>
              </a:rPr>
              <a:t>As per Sales Trend </a:t>
            </a:r>
            <a:r>
              <a:rPr lang="en-US" sz="1050" dirty="0" smtClean="0">
                <a:latin typeface="Calibri" panose="020F0502020204030204" pitchFamily="34" charset="0"/>
                <a:cs typeface="Calibri" panose="020F0502020204030204" pitchFamily="34" charset="0"/>
              </a:rPr>
              <a:t>Analysis </a:t>
            </a:r>
            <a:r>
              <a:rPr lang="en-US" sz="1000" dirty="0">
                <a:latin typeface="Calibri" panose="020F0502020204030204" pitchFamily="34" charset="0"/>
                <a:cs typeface="Calibri" panose="020F0502020204030204" pitchFamily="34" charset="0"/>
              </a:rPr>
              <a:t>the sales </a:t>
            </a:r>
            <a:r>
              <a:rPr lang="en-US" sz="1000" dirty="0" smtClean="0">
                <a:latin typeface="Calibri" panose="020F0502020204030204" pitchFamily="34" charset="0"/>
                <a:cs typeface="Calibri" panose="020F0502020204030204" pitchFamily="34" charset="0"/>
              </a:rPr>
              <a:t> month </a:t>
            </a:r>
            <a:r>
              <a:rPr lang="en-US" sz="1100" b="1" dirty="0" smtClean="0">
                <a:solidFill>
                  <a:schemeClr val="accent3">
                    <a:lumMod val="75000"/>
                    <a:lumOff val="25000"/>
                  </a:schemeClr>
                </a:solidFill>
                <a:latin typeface="Calibri" panose="020F0502020204030204" pitchFamily="34" charset="0"/>
                <a:cs typeface="Calibri" panose="020F0502020204030204" pitchFamily="34" charset="0"/>
              </a:rPr>
              <a:t>Feb 2024 </a:t>
            </a:r>
            <a:r>
              <a:rPr lang="en-US" sz="1000" dirty="0" smtClean="0">
                <a:latin typeface="Calibri" panose="020F0502020204030204" pitchFamily="34" charset="0"/>
                <a:cs typeface="Calibri" panose="020F0502020204030204" pitchFamily="34" charset="0"/>
              </a:rPr>
              <a:t>experience </a:t>
            </a:r>
            <a:r>
              <a:rPr lang="en-US" sz="1000" dirty="0">
                <a:latin typeface="Calibri" panose="020F0502020204030204" pitchFamily="34" charset="0"/>
                <a:cs typeface="Calibri" panose="020F0502020204030204" pitchFamily="34" charset="0"/>
              </a:rPr>
              <a:t>the largest </a:t>
            </a:r>
            <a:r>
              <a:rPr lang="en-US" sz="1000" dirty="0" smtClean="0">
                <a:latin typeface="Calibri" panose="020F0502020204030204" pitchFamily="34" charset="0"/>
                <a:cs typeface="Calibri" panose="020F0502020204030204" pitchFamily="34" charset="0"/>
              </a:rPr>
              <a:t>decline</a:t>
            </a:r>
          </a:p>
          <a:p>
            <a:r>
              <a:rPr lang="en-US" sz="900" dirty="0">
                <a:latin typeface="Calibri" panose="020F0502020204030204" pitchFamily="34" charset="0"/>
                <a:cs typeface="Calibri" panose="020F0502020204030204" pitchFamily="34" charset="0"/>
              </a:rPr>
              <a:t>sales trend from March to </a:t>
            </a:r>
            <a:r>
              <a:rPr lang="en-US" sz="900" dirty="0" smtClean="0">
                <a:latin typeface="Calibri" panose="020F0502020204030204" pitchFamily="34" charset="0"/>
                <a:cs typeface="Calibri" panose="020F0502020204030204" pitchFamily="34" charset="0"/>
              </a:rPr>
              <a:t>August </a:t>
            </a:r>
            <a:r>
              <a:rPr lang="en-US" sz="1050" b="1" dirty="0">
                <a:solidFill>
                  <a:schemeClr val="accent3">
                    <a:lumMod val="75000"/>
                    <a:lumOff val="25000"/>
                  </a:schemeClr>
                </a:solidFill>
                <a:latin typeface="Calibri" panose="020F0502020204030204" pitchFamily="34" charset="0"/>
                <a:cs typeface="Calibri" panose="020F0502020204030204" pitchFamily="34" charset="0"/>
              </a:rPr>
              <a:t>Sales fluctuated with no clear trend. </a:t>
            </a:r>
            <a:endParaRPr lang="en-US" sz="30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73343" y="46383"/>
            <a:ext cx="8784829" cy="417444"/>
          </a:xfrm>
        </p:spPr>
        <p:txBody>
          <a:bodyPr/>
          <a:lstStyle/>
          <a:p>
            <a:pPr algn="l"/>
            <a:r>
              <a:rPr lang="en-US" sz="1100" b="0" dirty="0">
                <a:latin typeface="Calibri" panose="020F0502020204030204" pitchFamily="34" charset="0"/>
                <a:cs typeface="Calibri" panose="020F0502020204030204" pitchFamily="34" charset="0"/>
              </a:rPr>
              <a:t>Analyze the month-on-month percentage change in total sales to identify growth trends</a:t>
            </a:r>
            <a:r>
              <a:rPr lang="en-US" sz="1100" b="0" dirty="0" smtClean="0">
                <a:latin typeface="Calibri" panose="020F0502020204030204" pitchFamily="34" charset="0"/>
                <a:cs typeface="Calibri" panose="020F0502020204030204" pitchFamily="34" charset="0"/>
              </a:rPr>
              <a:t>. </a:t>
            </a:r>
            <a:r>
              <a:rPr lang="en-IN" sz="1100" b="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Sales Trend Analysis </a:t>
            </a:r>
            <a:endParaRPr lang="en-IN" sz="110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3931" y="1545364"/>
            <a:ext cx="6409365" cy="3338961"/>
          </a:xfrm>
          <a:prstGeom prst="rect">
            <a:avLst/>
          </a:prstGeom>
        </p:spPr>
      </p:pic>
    </p:spTree>
    <p:extLst>
      <p:ext uri="{BB962C8B-B14F-4D97-AF65-F5344CB8AC3E}">
        <p14:creationId xmlns:p14="http://schemas.microsoft.com/office/powerpoint/2010/main" val="56235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175513" y="619875"/>
            <a:ext cx="2325757" cy="900246"/>
          </a:xfrm>
          <a:prstGeom prst="rect">
            <a:avLst/>
          </a:prstGeom>
        </p:spPr>
        <p:txBody>
          <a:bodyPr wrap="square">
            <a:spAutoFit/>
          </a:bodyPr>
          <a:lstStyle/>
          <a:p>
            <a:r>
              <a:rPr lang="en-US" sz="1050" dirty="0">
                <a:latin typeface="Calibri" panose="020F0502020204030204" pitchFamily="34" charset="0"/>
                <a:cs typeface="Calibri" panose="020F0502020204030204" pitchFamily="34" charset="0"/>
              </a:rPr>
              <a:t>As per Sales Trend </a:t>
            </a:r>
            <a:r>
              <a:rPr lang="en-US" sz="1050" dirty="0" smtClean="0">
                <a:latin typeface="Calibri" panose="020F0502020204030204" pitchFamily="34" charset="0"/>
                <a:cs typeface="Calibri" panose="020F0502020204030204" pitchFamily="34" charset="0"/>
              </a:rPr>
              <a:t>Analysis </a:t>
            </a:r>
            <a:r>
              <a:rPr lang="en-US" sz="1000" dirty="0">
                <a:latin typeface="Calibri" panose="020F0502020204030204" pitchFamily="34" charset="0"/>
                <a:cs typeface="Calibri" panose="020F0502020204030204" pitchFamily="34" charset="0"/>
              </a:rPr>
              <a:t>the sales </a:t>
            </a:r>
            <a:r>
              <a:rPr lang="en-US" sz="1000" dirty="0" smtClean="0">
                <a:latin typeface="Calibri" panose="020F0502020204030204" pitchFamily="34" charset="0"/>
                <a:cs typeface="Calibri" panose="020F0502020204030204" pitchFamily="34" charset="0"/>
              </a:rPr>
              <a:t> month </a:t>
            </a:r>
            <a:r>
              <a:rPr lang="en-US" sz="1100" b="1" dirty="0" smtClean="0">
                <a:solidFill>
                  <a:schemeClr val="accent3">
                    <a:lumMod val="75000"/>
                    <a:lumOff val="25000"/>
                  </a:schemeClr>
                </a:solidFill>
                <a:latin typeface="Calibri" panose="020F0502020204030204" pitchFamily="34" charset="0"/>
                <a:cs typeface="Calibri" panose="020F0502020204030204" pitchFamily="34" charset="0"/>
              </a:rPr>
              <a:t>Feb 2024 </a:t>
            </a:r>
            <a:r>
              <a:rPr lang="en-US" sz="1000" dirty="0" smtClean="0">
                <a:latin typeface="Calibri" panose="020F0502020204030204" pitchFamily="34" charset="0"/>
                <a:cs typeface="Calibri" panose="020F0502020204030204" pitchFamily="34" charset="0"/>
              </a:rPr>
              <a:t>experience </a:t>
            </a:r>
            <a:r>
              <a:rPr lang="en-US" sz="1000" dirty="0">
                <a:latin typeface="Calibri" panose="020F0502020204030204" pitchFamily="34" charset="0"/>
                <a:cs typeface="Calibri" panose="020F0502020204030204" pitchFamily="34" charset="0"/>
              </a:rPr>
              <a:t>the largest </a:t>
            </a:r>
            <a:r>
              <a:rPr lang="en-US" sz="1000" dirty="0" smtClean="0">
                <a:latin typeface="Calibri" panose="020F0502020204030204" pitchFamily="34" charset="0"/>
                <a:cs typeface="Calibri" panose="020F0502020204030204" pitchFamily="34" charset="0"/>
              </a:rPr>
              <a:t>decline -86K</a:t>
            </a:r>
          </a:p>
          <a:p>
            <a:r>
              <a:rPr lang="en-US" sz="900" dirty="0">
                <a:latin typeface="Calibri" panose="020F0502020204030204" pitchFamily="34" charset="0"/>
                <a:cs typeface="Calibri" panose="020F0502020204030204" pitchFamily="34" charset="0"/>
              </a:rPr>
              <a:t>sales trend from March to </a:t>
            </a:r>
            <a:r>
              <a:rPr lang="en-US" sz="900" dirty="0" smtClean="0">
                <a:latin typeface="Calibri" panose="020F0502020204030204" pitchFamily="34" charset="0"/>
                <a:cs typeface="Calibri" panose="020F0502020204030204" pitchFamily="34" charset="0"/>
              </a:rPr>
              <a:t>August </a:t>
            </a:r>
            <a:r>
              <a:rPr lang="en-US" sz="1050" b="1" dirty="0">
                <a:solidFill>
                  <a:schemeClr val="accent3">
                    <a:lumMod val="75000"/>
                    <a:lumOff val="25000"/>
                  </a:schemeClr>
                </a:solidFill>
                <a:latin typeface="Calibri" panose="020F0502020204030204" pitchFamily="34" charset="0"/>
                <a:cs typeface="Calibri" panose="020F0502020204030204" pitchFamily="34" charset="0"/>
              </a:rPr>
              <a:t>Sales fluctuated with no clear trend. </a:t>
            </a:r>
            <a:endParaRPr lang="en-US" sz="30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73343" y="46383"/>
            <a:ext cx="8784829" cy="417444"/>
          </a:xfrm>
        </p:spPr>
        <p:txBody>
          <a:bodyPr/>
          <a:lstStyle/>
          <a:p>
            <a:pPr algn="l"/>
            <a:r>
              <a:rPr lang="en-US" sz="1100" b="0" dirty="0">
                <a:latin typeface="Calibri" panose="020F0502020204030204" pitchFamily="34" charset="0"/>
                <a:cs typeface="Calibri" panose="020F0502020204030204" pitchFamily="34" charset="0"/>
              </a:rPr>
              <a:t>Analyze the month-on-month percentage change in total sales to identify growth trends</a:t>
            </a:r>
            <a:r>
              <a:rPr lang="en-US" sz="1100" b="0" dirty="0" smtClean="0">
                <a:latin typeface="Calibri" panose="020F0502020204030204" pitchFamily="34" charset="0"/>
                <a:cs typeface="Calibri" panose="020F0502020204030204" pitchFamily="34" charset="0"/>
              </a:rPr>
              <a:t>. </a:t>
            </a:r>
            <a:r>
              <a:rPr lang="en-IN" sz="1100" b="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Sales Trend Analysis </a:t>
            </a:r>
            <a:endParaRPr lang="en-IN" sz="110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2"/>
          <a:stretch>
            <a:fillRect/>
          </a:stretch>
        </p:blipFill>
        <p:spPr>
          <a:xfrm>
            <a:off x="618445" y="1676169"/>
            <a:ext cx="7825076" cy="2710690"/>
          </a:xfrm>
          <a:prstGeom prst="rect">
            <a:avLst/>
          </a:prstGeom>
        </p:spPr>
      </p:pic>
    </p:spTree>
    <p:extLst>
      <p:ext uri="{BB962C8B-B14F-4D97-AF65-F5344CB8AC3E}">
        <p14:creationId xmlns:p14="http://schemas.microsoft.com/office/powerpoint/2010/main" val="3809163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6352" y="463827"/>
            <a:ext cx="2431318" cy="3266660"/>
          </a:xfrm>
        </p:spPr>
        <p:txBody>
          <a:bodyPr/>
          <a:lstStyle/>
          <a:p>
            <a:pPr algn="l"/>
            <a:r>
              <a:rPr lang="en-IN" sz="1000" dirty="0">
                <a:latin typeface="Calibri" panose="020F0502020204030204" pitchFamily="34" charset="0"/>
                <a:cs typeface="Calibri" panose="020F0502020204030204" pitchFamily="34" charset="0"/>
              </a:rPr>
              <a:t>WITH </a:t>
            </a:r>
            <a:r>
              <a:rPr lang="en-IN" sz="1000" dirty="0" err="1">
                <a:latin typeface="Calibri" panose="020F0502020204030204" pitchFamily="34" charset="0"/>
                <a:cs typeface="Calibri" panose="020F0502020204030204" pitchFamily="34" charset="0"/>
              </a:rPr>
              <a:t>MonthlyAvg</a:t>
            </a:r>
            <a:r>
              <a:rPr lang="en-IN" sz="1000" dirty="0">
                <a:latin typeface="Calibri" panose="020F0502020204030204" pitchFamily="34" charset="0"/>
                <a:cs typeface="Calibri" panose="020F0502020204030204" pitchFamily="34" charset="0"/>
              </a:rPr>
              <a:t> AS (</a:t>
            </a:r>
          </a:p>
          <a:p>
            <a:pPr algn="l"/>
            <a:r>
              <a:rPr lang="en-IN" sz="1000" dirty="0">
                <a:latin typeface="Calibri" panose="020F0502020204030204" pitchFamily="34" charset="0"/>
                <a:cs typeface="Calibri" panose="020F0502020204030204" pitchFamily="34" charset="0"/>
              </a:rPr>
              <a:t>    SELECT </a:t>
            </a:r>
          </a:p>
          <a:p>
            <a:pPr algn="l"/>
            <a:r>
              <a:rPr lang="en-IN" sz="1000" dirty="0">
                <a:latin typeface="Calibri" panose="020F0502020204030204" pitchFamily="34" charset="0"/>
                <a:cs typeface="Calibri" panose="020F0502020204030204" pitchFamily="34" charset="0"/>
              </a:rPr>
              <a:t>        DATE_FORMAT(</a:t>
            </a:r>
            <a:r>
              <a:rPr lang="en-IN" sz="1000" dirty="0" err="1">
                <a:latin typeface="Calibri" panose="020F0502020204030204" pitchFamily="34" charset="0"/>
                <a:cs typeface="Calibri" panose="020F0502020204030204" pitchFamily="34" charset="0"/>
              </a:rPr>
              <a:t>order_date</a:t>
            </a:r>
            <a:r>
              <a:rPr lang="en-IN" sz="1000" dirty="0">
                <a:latin typeface="Calibri" panose="020F0502020204030204" pitchFamily="34" charset="0"/>
                <a:cs typeface="Calibri" panose="020F0502020204030204" pitchFamily="34" charset="0"/>
              </a:rPr>
              <a:t>, '%Y-%m') AS Month,</a:t>
            </a:r>
          </a:p>
          <a:p>
            <a:pPr algn="l"/>
            <a:r>
              <a:rPr lang="en-IN" sz="1000" dirty="0">
                <a:latin typeface="Calibri" panose="020F0502020204030204" pitchFamily="34" charset="0"/>
                <a:cs typeface="Calibri" panose="020F0502020204030204" pitchFamily="34" charset="0"/>
              </a:rPr>
              <a:t>        ROUND(AVG(</a:t>
            </a:r>
            <a:r>
              <a:rPr lang="en-IN" sz="1000" dirty="0" err="1">
                <a:latin typeface="Calibri" panose="020F0502020204030204" pitchFamily="34" charset="0"/>
                <a:cs typeface="Calibri" panose="020F0502020204030204" pitchFamily="34" charset="0"/>
              </a:rPr>
              <a:t>total_amount</a:t>
            </a:r>
            <a:r>
              <a:rPr lang="en-IN" sz="1000" dirty="0">
                <a:latin typeface="Calibri" panose="020F0502020204030204" pitchFamily="34" charset="0"/>
                <a:cs typeface="Calibri" panose="020F0502020204030204" pitchFamily="34" charset="0"/>
              </a:rPr>
              <a:t>), 2) AS </a:t>
            </a:r>
            <a:r>
              <a:rPr lang="en-IN" sz="1000" dirty="0" err="1">
                <a:latin typeface="Calibri" panose="020F0502020204030204" pitchFamily="34" charset="0"/>
                <a:cs typeface="Calibri" panose="020F0502020204030204" pitchFamily="34" charset="0"/>
              </a:rPr>
              <a:t>AvgOrderValue</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    FROM Orders</a:t>
            </a:r>
          </a:p>
          <a:p>
            <a:pPr algn="l"/>
            <a:r>
              <a:rPr lang="en-IN" sz="1000" dirty="0">
                <a:latin typeface="Calibri" panose="020F0502020204030204" pitchFamily="34" charset="0"/>
                <a:cs typeface="Calibri" panose="020F0502020204030204" pitchFamily="34" charset="0"/>
              </a:rPr>
              <a:t>    GROUP BY DATE_FORMAT(</a:t>
            </a:r>
            <a:r>
              <a:rPr lang="en-IN" sz="1000" dirty="0" err="1">
                <a:latin typeface="Calibri" panose="020F0502020204030204" pitchFamily="34" charset="0"/>
                <a:cs typeface="Calibri" panose="020F0502020204030204" pitchFamily="34" charset="0"/>
              </a:rPr>
              <a:t>order_date</a:t>
            </a:r>
            <a:r>
              <a:rPr lang="en-IN" sz="1000" dirty="0">
                <a:latin typeface="Calibri" panose="020F0502020204030204" pitchFamily="34" charset="0"/>
                <a:cs typeface="Calibri" panose="020F0502020204030204" pitchFamily="34" charset="0"/>
              </a:rPr>
              <a:t>, '%Y-%m')</a:t>
            </a:r>
          </a:p>
          <a:p>
            <a:pPr algn="l"/>
            <a:r>
              <a:rPr lang="en-IN" sz="1000" dirty="0">
                <a:latin typeface="Calibri" panose="020F0502020204030204" pitchFamily="34" charset="0"/>
                <a:cs typeface="Calibri" panose="020F0502020204030204" pitchFamily="34" charset="0"/>
              </a:rPr>
              <a:t>)</a:t>
            </a:r>
          </a:p>
          <a:p>
            <a:pPr algn="l"/>
            <a:r>
              <a:rPr lang="en-IN" sz="1000" dirty="0">
                <a:latin typeface="Calibri" panose="020F0502020204030204" pitchFamily="34" charset="0"/>
                <a:cs typeface="Calibri" panose="020F0502020204030204" pitchFamily="34" charset="0"/>
              </a:rPr>
              <a:t>SELECT </a:t>
            </a:r>
          </a:p>
          <a:p>
            <a:pPr algn="l"/>
            <a:r>
              <a:rPr lang="en-IN" sz="1000" dirty="0">
                <a:latin typeface="Calibri" panose="020F0502020204030204" pitchFamily="34" charset="0"/>
                <a:cs typeface="Calibri" panose="020F0502020204030204" pitchFamily="34" charset="0"/>
              </a:rPr>
              <a:t>    Month,</a:t>
            </a:r>
          </a:p>
          <a:p>
            <a:pPr algn="l"/>
            <a:r>
              <a:rPr lang="en-IN" sz="1000" dirty="0">
                <a:latin typeface="Calibri" panose="020F0502020204030204" pitchFamily="34" charset="0"/>
                <a:cs typeface="Calibri" panose="020F0502020204030204" pitchFamily="34" charset="0"/>
              </a:rPr>
              <a:t>    </a:t>
            </a:r>
            <a:r>
              <a:rPr lang="en-IN" sz="1000" dirty="0" err="1">
                <a:latin typeface="Calibri" panose="020F0502020204030204" pitchFamily="34" charset="0"/>
                <a:cs typeface="Calibri" panose="020F0502020204030204" pitchFamily="34" charset="0"/>
              </a:rPr>
              <a:t>AvgOrderValue</a:t>
            </a:r>
            <a:r>
              <a:rPr lang="en-IN" sz="1000" dirty="0">
                <a:latin typeface="Calibri" panose="020F0502020204030204" pitchFamily="34" charset="0"/>
                <a:cs typeface="Calibri" panose="020F0502020204030204" pitchFamily="34" charset="0"/>
              </a:rPr>
              <a:t>,</a:t>
            </a:r>
          </a:p>
          <a:p>
            <a:pPr algn="l"/>
            <a:r>
              <a:rPr lang="en-IN" sz="1000" dirty="0">
                <a:latin typeface="Calibri" panose="020F0502020204030204" pitchFamily="34" charset="0"/>
                <a:cs typeface="Calibri" panose="020F0502020204030204" pitchFamily="34" charset="0"/>
              </a:rPr>
              <a:t>    ROUND(</a:t>
            </a:r>
            <a:r>
              <a:rPr lang="en-IN" sz="1000" dirty="0" err="1">
                <a:latin typeface="Calibri" panose="020F0502020204030204" pitchFamily="34" charset="0"/>
                <a:cs typeface="Calibri" panose="020F0502020204030204" pitchFamily="34" charset="0"/>
              </a:rPr>
              <a:t>AvgOrderValue</a:t>
            </a:r>
            <a:r>
              <a:rPr lang="en-IN" sz="1000" dirty="0">
                <a:latin typeface="Calibri" panose="020F0502020204030204" pitchFamily="34" charset="0"/>
                <a:cs typeface="Calibri" panose="020F0502020204030204" pitchFamily="34" charset="0"/>
              </a:rPr>
              <a:t> - LAG(</a:t>
            </a:r>
            <a:r>
              <a:rPr lang="en-IN" sz="1000" dirty="0" err="1">
                <a:latin typeface="Calibri" panose="020F0502020204030204" pitchFamily="34" charset="0"/>
                <a:cs typeface="Calibri" panose="020F0502020204030204" pitchFamily="34" charset="0"/>
              </a:rPr>
              <a:t>AvgOrderValue</a:t>
            </a:r>
            <a:r>
              <a:rPr lang="en-IN" sz="1000" dirty="0">
                <a:latin typeface="Calibri" panose="020F0502020204030204" pitchFamily="34" charset="0"/>
                <a:cs typeface="Calibri" panose="020F0502020204030204" pitchFamily="34" charset="0"/>
              </a:rPr>
              <a:t>) OVER (ORDER BY Month), 2) AS </a:t>
            </a:r>
            <a:r>
              <a:rPr lang="en-IN" sz="1000" dirty="0" err="1">
                <a:latin typeface="Calibri" panose="020F0502020204030204" pitchFamily="34" charset="0"/>
                <a:cs typeface="Calibri" panose="020F0502020204030204" pitchFamily="34" charset="0"/>
              </a:rPr>
              <a:t>ChangeInValue</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FROM </a:t>
            </a:r>
            <a:r>
              <a:rPr lang="en-IN" sz="1000" dirty="0" err="1">
                <a:latin typeface="Calibri" panose="020F0502020204030204" pitchFamily="34" charset="0"/>
                <a:cs typeface="Calibri" panose="020F0502020204030204" pitchFamily="34" charset="0"/>
              </a:rPr>
              <a:t>MonthlyAvg</a:t>
            </a:r>
            <a:endParaRPr lang="en-IN" sz="1000" dirty="0">
              <a:latin typeface="Calibri" panose="020F0502020204030204" pitchFamily="34" charset="0"/>
              <a:cs typeface="Calibri" panose="020F0502020204030204" pitchFamily="34" charset="0"/>
            </a:endParaRPr>
          </a:p>
          <a:p>
            <a:pPr algn="l"/>
            <a:r>
              <a:rPr lang="en-IN" sz="1000" dirty="0">
                <a:latin typeface="Calibri" panose="020F0502020204030204" pitchFamily="34" charset="0"/>
                <a:cs typeface="Calibri" panose="020F0502020204030204" pitchFamily="34" charset="0"/>
              </a:rPr>
              <a:t>ORDER BY </a:t>
            </a:r>
            <a:r>
              <a:rPr lang="en-IN" sz="1000" dirty="0" err="1">
                <a:latin typeface="Calibri" panose="020F0502020204030204" pitchFamily="34" charset="0"/>
                <a:cs typeface="Calibri" panose="020F0502020204030204" pitchFamily="34" charset="0"/>
              </a:rPr>
              <a:t>ChangeInValue</a:t>
            </a:r>
            <a:r>
              <a:rPr lang="en-IN" sz="1000" dirty="0">
                <a:latin typeface="Calibri" panose="020F0502020204030204" pitchFamily="34" charset="0"/>
                <a:cs typeface="Calibri" panose="020F0502020204030204" pitchFamily="34" charset="0"/>
              </a:rPr>
              <a:t> DESC;</a:t>
            </a:r>
          </a:p>
          <a:p>
            <a:pPr algn="l"/>
            <a:endParaRPr lang="en-IN" sz="100" dirty="0">
              <a:latin typeface="Calibri" panose="020F0502020204030204" pitchFamily="34" charset="0"/>
              <a:cs typeface="Calibri" panose="020F0502020204030204" pitchFamily="34" charset="0"/>
            </a:endParaRPr>
          </a:p>
        </p:txBody>
      </p:sp>
      <p:sp>
        <p:nvSpPr>
          <p:cNvPr id="5" name="Rectangle 4"/>
          <p:cNvSpPr/>
          <p:nvPr/>
        </p:nvSpPr>
        <p:spPr>
          <a:xfrm>
            <a:off x="6427304" y="463827"/>
            <a:ext cx="2325757" cy="477054"/>
          </a:xfrm>
          <a:prstGeom prst="rect">
            <a:avLst/>
          </a:prstGeom>
        </p:spPr>
        <p:txBody>
          <a:bodyPr wrap="square">
            <a:spAutoFit/>
          </a:bodyPr>
          <a:lstStyle/>
          <a:p>
            <a:r>
              <a:rPr lang="en-US" sz="1100" b="1" dirty="0" smtClean="0">
                <a:solidFill>
                  <a:schemeClr val="accent3">
                    <a:lumMod val="75000"/>
                    <a:lumOff val="25000"/>
                  </a:schemeClr>
                </a:solidFill>
                <a:latin typeface="Calibri" panose="020F0502020204030204" pitchFamily="34" charset="0"/>
                <a:cs typeface="Calibri" panose="020F0502020204030204" pitchFamily="34" charset="0"/>
              </a:rPr>
              <a:t>December</a:t>
            </a:r>
            <a:r>
              <a:rPr lang="en-US" sz="1100" dirty="0" smtClean="0">
                <a:latin typeface="Calibri" panose="020F0502020204030204" pitchFamily="34" charset="0"/>
                <a:cs typeface="Calibri" panose="020F0502020204030204" pitchFamily="34" charset="0"/>
              </a:rPr>
              <a:t> month </a:t>
            </a:r>
            <a:r>
              <a:rPr lang="en-US" sz="1100" dirty="0">
                <a:latin typeface="Calibri" panose="020F0502020204030204" pitchFamily="34" charset="0"/>
                <a:cs typeface="Calibri" panose="020F0502020204030204" pitchFamily="34" charset="0"/>
              </a:rPr>
              <a:t>has the highest change in the average order </a:t>
            </a:r>
            <a:r>
              <a:rPr lang="en-US" sz="1100" dirty="0" smtClean="0">
                <a:latin typeface="Calibri" panose="020F0502020204030204" pitchFamily="34" charset="0"/>
                <a:cs typeface="Calibri" panose="020F0502020204030204" pitchFamily="34" charset="0"/>
              </a:rPr>
              <a:t>value</a:t>
            </a:r>
          </a:p>
          <a:p>
            <a:endParaRPr lang="en-US" sz="30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73343" y="46383"/>
            <a:ext cx="8784829" cy="298174"/>
          </a:xfrm>
        </p:spPr>
        <p:txBody>
          <a:bodyPr/>
          <a:lstStyle/>
          <a:p>
            <a:pPr algn="l"/>
            <a:r>
              <a:rPr lang="en-US" sz="1100" b="0" dirty="0">
                <a:latin typeface="Calibri" panose="020F0502020204030204" pitchFamily="34" charset="0"/>
                <a:cs typeface="Calibri" panose="020F0502020204030204" pitchFamily="34" charset="0"/>
              </a:rPr>
              <a:t>Examine how the average order value changes month-on-month. Insights can guide pricing and promotional strategies to enhance order value.</a:t>
            </a:r>
            <a:endParaRPr lang="en-IN" sz="10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5843" y="1558616"/>
            <a:ext cx="6111192" cy="3338961"/>
          </a:xfrm>
          <a:prstGeom prst="rect">
            <a:avLst/>
          </a:prstGeom>
        </p:spPr>
      </p:pic>
    </p:spTree>
    <p:extLst>
      <p:ext uri="{BB962C8B-B14F-4D97-AF65-F5344CB8AC3E}">
        <p14:creationId xmlns:p14="http://schemas.microsoft.com/office/powerpoint/2010/main" val="13710188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51184"/>
            <a:ext cx="2729491" cy="1729408"/>
          </a:xfrm>
        </p:spPr>
        <p:txBody>
          <a:bodyPr/>
          <a:lstStyle/>
          <a:p>
            <a:pPr algn="l"/>
            <a:r>
              <a:rPr lang="en-US" sz="1050" dirty="0">
                <a:latin typeface="Calibri" panose="020F0502020204030204" pitchFamily="34" charset="0"/>
                <a:cs typeface="Calibri" panose="020F0502020204030204" pitchFamily="34" charset="0"/>
              </a:rPr>
              <a:t>SELECT </a:t>
            </a:r>
          </a:p>
          <a:p>
            <a:pPr algn="l"/>
            <a:r>
              <a:rPr lang="en-US" sz="1050" dirty="0">
                <a:latin typeface="Calibri" panose="020F0502020204030204" pitchFamily="34" charset="0"/>
                <a:cs typeface="Calibri" panose="020F0502020204030204" pitchFamily="34" charset="0"/>
              </a:rPr>
              <a:t>    </a:t>
            </a:r>
            <a:r>
              <a:rPr lang="en-US" sz="1050" dirty="0" err="1">
                <a:latin typeface="Calibri" panose="020F0502020204030204" pitchFamily="34" charset="0"/>
                <a:cs typeface="Calibri" panose="020F0502020204030204" pitchFamily="34" charset="0"/>
              </a:rPr>
              <a:t>product_id</a:t>
            </a:r>
            <a:r>
              <a:rPr lang="en-US" sz="1050" dirty="0">
                <a:latin typeface="Calibri" panose="020F0502020204030204" pitchFamily="34" charset="0"/>
                <a:cs typeface="Calibri" panose="020F0502020204030204" pitchFamily="34" charset="0"/>
              </a:rPr>
              <a:t>,</a:t>
            </a:r>
          </a:p>
          <a:p>
            <a:pPr algn="l"/>
            <a:r>
              <a:rPr lang="en-US" sz="1050" dirty="0">
                <a:latin typeface="Calibri" panose="020F0502020204030204" pitchFamily="34" charset="0"/>
                <a:cs typeface="Calibri" panose="020F0502020204030204" pitchFamily="34" charset="0"/>
              </a:rPr>
              <a:t>    COUNT(</a:t>
            </a:r>
            <a:r>
              <a:rPr lang="en-US" sz="1050" dirty="0" err="1">
                <a:latin typeface="Calibri" panose="020F0502020204030204" pitchFamily="34" charset="0"/>
                <a:cs typeface="Calibri" panose="020F0502020204030204" pitchFamily="34" charset="0"/>
              </a:rPr>
              <a:t>order_id</a:t>
            </a:r>
            <a:r>
              <a:rPr lang="en-US" sz="1050" dirty="0">
                <a:latin typeface="Calibri" panose="020F0502020204030204" pitchFamily="34" charset="0"/>
                <a:cs typeface="Calibri" panose="020F0502020204030204" pitchFamily="34" charset="0"/>
              </a:rPr>
              <a:t>) AS </a:t>
            </a:r>
            <a:r>
              <a:rPr lang="en-US" sz="1050" dirty="0" err="1">
                <a:latin typeface="Calibri" panose="020F0502020204030204" pitchFamily="34" charset="0"/>
                <a:cs typeface="Calibri" panose="020F0502020204030204" pitchFamily="34" charset="0"/>
              </a:rPr>
              <a:t>SalesFrequency</a:t>
            </a:r>
            <a:endParaRPr lang="en-US" sz="1050" dirty="0">
              <a:latin typeface="Calibri" panose="020F0502020204030204" pitchFamily="34" charset="0"/>
              <a:cs typeface="Calibri" panose="020F0502020204030204" pitchFamily="34" charset="0"/>
            </a:endParaRPr>
          </a:p>
          <a:p>
            <a:pPr algn="l"/>
            <a:r>
              <a:rPr lang="en-US" sz="1050" dirty="0">
                <a:latin typeface="Calibri" panose="020F0502020204030204" pitchFamily="34" charset="0"/>
                <a:cs typeface="Calibri" panose="020F0502020204030204" pitchFamily="34" charset="0"/>
              </a:rPr>
              <a:t>FROM </a:t>
            </a:r>
            <a:r>
              <a:rPr lang="en-US" sz="1050" dirty="0" err="1">
                <a:latin typeface="Calibri" panose="020F0502020204030204" pitchFamily="34" charset="0"/>
                <a:cs typeface="Calibri" panose="020F0502020204030204" pitchFamily="34" charset="0"/>
              </a:rPr>
              <a:t>OrderDetails</a:t>
            </a:r>
            <a:endParaRPr lang="en-US" sz="1050" dirty="0">
              <a:latin typeface="Calibri" panose="020F0502020204030204" pitchFamily="34" charset="0"/>
              <a:cs typeface="Calibri" panose="020F0502020204030204" pitchFamily="34" charset="0"/>
            </a:endParaRPr>
          </a:p>
          <a:p>
            <a:pPr algn="l"/>
            <a:r>
              <a:rPr lang="en-US" sz="1050" dirty="0">
                <a:latin typeface="Calibri" panose="020F0502020204030204" pitchFamily="34" charset="0"/>
                <a:cs typeface="Calibri" panose="020F0502020204030204" pitchFamily="34" charset="0"/>
              </a:rPr>
              <a:t>GROUP BY </a:t>
            </a:r>
            <a:r>
              <a:rPr lang="en-US" sz="1050" dirty="0" err="1">
                <a:latin typeface="Calibri" panose="020F0502020204030204" pitchFamily="34" charset="0"/>
                <a:cs typeface="Calibri" panose="020F0502020204030204" pitchFamily="34" charset="0"/>
              </a:rPr>
              <a:t>product_id</a:t>
            </a:r>
            <a:endParaRPr lang="en-US" sz="1050" dirty="0">
              <a:latin typeface="Calibri" panose="020F0502020204030204" pitchFamily="34" charset="0"/>
              <a:cs typeface="Calibri" panose="020F0502020204030204" pitchFamily="34" charset="0"/>
            </a:endParaRPr>
          </a:p>
          <a:p>
            <a:pPr algn="l"/>
            <a:r>
              <a:rPr lang="en-US" sz="1050" dirty="0">
                <a:latin typeface="Calibri" panose="020F0502020204030204" pitchFamily="34" charset="0"/>
                <a:cs typeface="Calibri" panose="020F0502020204030204" pitchFamily="34" charset="0"/>
              </a:rPr>
              <a:t>ORDER BY </a:t>
            </a:r>
            <a:r>
              <a:rPr lang="en-US" sz="1050" dirty="0" err="1">
                <a:latin typeface="Calibri" panose="020F0502020204030204" pitchFamily="34" charset="0"/>
                <a:cs typeface="Calibri" panose="020F0502020204030204" pitchFamily="34" charset="0"/>
              </a:rPr>
              <a:t>SalesFrequency</a:t>
            </a:r>
            <a:r>
              <a:rPr lang="en-US" sz="1050" dirty="0">
                <a:latin typeface="Calibri" panose="020F0502020204030204" pitchFamily="34" charset="0"/>
                <a:cs typeface="Calibri" panose="020F0502020204030204" pitchFamily="34" charset="0"/>
              </a:rPr>
              <a:t> DESC</a:t>
            </a:r>
          </a:p>
          <a:p>
            <a:pPr algn="l"/>
            <a:r>
              <a:rPr lang="en-US" sz="1050" dirty="0">
                <a:latin typeface="Calibri" panose="020F0502020204030204" pitchFamily="34" charset="0"/>
                <a:cs typeface="Calibri" panose="020F0502020204030204" pitchFamily="34" charset="0"/>
              </a:rPr>
              <a:t>LIMIT 5;</a:t>
            </a:r>
          </a:p>
          <a:p>
            <a:pPr algn="l"/>
            <a:endParaRPr lang="en-IN" sz="100" dirty="0">
              <a:latin typeface="Calibri" panose="020F0502020204030204" pitchFamily="34" charset="0"/>
              <a:cs typeface="Calibri" panose="020F0502020204030204" pitchFamily="34" charset="0"/>
            </a:endParaRPr>
          </a:p>
        </p:txBody>
      </p:sp>
      <p:sp>
        <p:nvSpPr>
          <p:cNvPr id="5" name="Rectangle 4"/>
          <p:cNvSpPr/>
          <p:nvPr/>
        </p:nvSpPr>
        <p:spPr>
          <a:xfrm>
            <a:off x="4465757" y="344557"/>
            <a:ext cx="4161183" cy="438582"/>
          </a:xfrm>
          <a:prstGeom prst="rect">
            <a:avLst/>
          </a:prstGeom>
        </p:spPr>
        <p:txBody>
          <a:bodyPr wrap="square">
            <a:spAutoFit/>
          </a:bodyPr>
          <a:lstStyle/>
          <a:p>
            <a:r>
              <a:rPr lang="en-US" sz="1050" dirty="0" err="1" smtClean="0">
                <a:latin typeface="Calibri" panose="020F0502020204030204" pitchFamily="34" charset="0"/>
                <a:cs typeface="Calibri" panose="020F0502020204030204" pitchFamily="34" charset="0"/>
              </a:rPr>
              <a:t>product_id</a:t>
            </a:r>
            <a:r>
              <a:rPr lang="en-US" sz="1050" dirty="0" smtClean="0">
                <a:latin typeface="Calibri" panose="020F0502020204030204" pitchFamily="34" charset="0"/>
                <a:cs typeface="Calibri" panose="020F0502020204030204" pitchFamily="34" charset="0"/>
              </a:rPr>
              <a:t> </a:t>
            </a:r>
            <a:r>
              <a:rPr lang="en-US" sz="1200" b="1" dirty="0" smtClean="0">
                <a:solidFill>
                  <a:schemeClr val="accent3">
                    <a:lumMod val="75000"/>
                    <a:lumOff val="25000"/>
                  </a:schemeClr>
                </a:solidFill>
                <a:latin typeface="Calibri" panose="020F0502020204030204" pitchFamily="34" charset="0"/>
                <a:cs typeface="Calibri" panose="020F0502020204030204" pitchFamily="34" charset="0"/>
              </a:rPr>
              <a:t>7</a:t>
            </a:r>
            <a:r>
              <a:rPr lang="en-US" sz="1050" dirty="0" smtClean="0">
                <a:latin typeface="Calibri" panose="020F0502020204030204" pitchFamily="34" charset="0"/>
                <a:cs typeface="Calibri" panose="020F0502020204030204" pitchFamily="34" charset="0"/>
              </a:rPr>
              <a:t> has </a:t>
            </a:r>
            <a:r>
              <a:rPr lang="en-US" sz="1050" dirty="0">
                <a:latin typeface="Calibri" panose="020F0502020204030204" pitchFamily="34" charset="0"/>
                <a:cs typeface="Calibri" panose="020F0502020204030204" pitchFamily="34" charset="0"/>
              </a:rPr>
              <a:t>the highest turnover rates and needs to be restocked frequently</a:t>
            </a:r>
            <a:endParaRPr lang="en-US" sz="10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73343" y="46383"/>
            <a:ext cx="8784829" cy="298174"/>
          </a:xfrm>
        </p:spPr>
        <p:txBody>
          <a:bodyPr/>
          <a:lstStyle/>
          <a:p>
            <a:pPr algn="l"/>
            <a:r>
              <a:rPr lang="en-US" sz="1050" b="0" dirty="0">
                <a:latin typeface="Calibri" panose="020F0502020204030204" pitchFamily="34" charset="0"/>
                <a:cs typeface="Calibri" panose="020F0502020204030204" pitchFamily="34" charset="0"/>
              </a:rPr>
              <a:t>Based on sales data, identify products with the fastest turnover rates, suggesting high demand and the need for frequent restocking.</a:t>
            </a:r>
            <a:endParaRPr lang="en-IN" sz="10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796" y="1060151"/>
            <a:ext cx="6550429" cy="3902765"/>
          </a:xfrm>
          <a:prstGeom prst="rect">
            <a:avLst/>
          </a:prstGeom>
        </p:spPr>
      </p:pic>
    </p:spTree>
    <p:extLst>
      <p:ext uri="{BB962C8B-B14F-4D97-AF65-F5344CB8AC3E}">
        <p14:creationId xmlns:p14="http://schemas.microsoft.com/office/powerpoint/2010/main" val="23871461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08315"/>
            <a:ext cx="2729491" cy="3009528"/>
          </a:xfrm>
        </p:spPr>
        <p:txBody>
          <a:bodyPr/>
          <a:lstStyle/>
          <a:p>
            <a:pPr algn="l"/>
            <a:r>
              <a:rPr lang="en-IN" sz="800" dirty="0">
                <a:latin typeface="Calibri" panose="020F0502020204030204" pitchFamily="34" charset="0"/>
                <a:cs typeface="Calibri" panose="020F0502020204030204" pitchFamily="34" charset="0"/>
              </a:rPr>
              <a:t>WITH </a:t>
            </a:r>
            <a:r>
              <a:rPr lang="en-IN" sz="800" dirty="0" err="1">
                <a:latin typeface="Calibri" panose="020F0502020204030204" pitchFamily="34" charset="0"/>
                <a:cs typeface="Calibri" panose="020F0502020204030204" pitchFamily="34" charset="0"/>
              </a:rPr>
              <a:t>ProductCustomerCount</a:t>
            </a:r>
            <a:r>
              <a:rPr lang="en-IN" sz="800" dirty="0">
                <a:latin typeface="Calibri" panose="020F0502020204030204" pitchFamily="34" charset="0"/>
                <a:cs typeface="Calibri" panose="020F0502020204030204" pitchFamily="34" charset="0"/>
              </a:rPr>
              <a:t> AS (</a:t>
            </a:r>
          </a:p>
          <a:p>
            <a:pPr algn="l"/>
            <a:r>
              <a:rPr lang="en-IN" sz="800" dirty="0">
                <a:latin typeface="Calibri" panose="020F0502020204030204" pitchFamily="34" charset="0"/>
                <a:cs typeface="Calibri" panose="020F0502020204030204" pitchFamily="34" charset="0"/>
              </a:rPr>
              <a:t>    SELECT </a:t>
            </a:r>
          </a:p>
          <a:p>
            <a:pPr algn="l"/>
            <a:r>
              <a:rPr lang="en-IN" sz="800" dirty="0">
                <a:latin typeface="Calibri" panose="020F0502020204030204" pitchFamily="34" charset="0"/>
                <a:cs typeface="Calibri" panose="020F0502020204030204" pitchFamily="34" charset="0"/>
              </a:rPr>
              <a:t>        </a:t>
            </a:r>
            <a:r>
              <a:rPr lang="en-IN" sz="800" dirty="0" err="1">
                <a:latin typeface="Calibri" panose="020F0502020204030204" pitchFamily="34" charset="0"/>
                <a:cs typeface="Calibri" panose="020F0502020204030204" pitchFamily="34" charset="0"/>
              </a:rPr>
              <a:t>od.product_id</a:t>
            </a:r>
            <a:r>
              <a:rPr lang="en-IN" sz="800" dirty="0">
                <a:latin typeface="Calibri" panose="020F0502020204030204" pitchFamily="34" charset="0"/>
                <a:cs typeface="Calibri" panose="020F0502020204030204" pitchFamily="34" charset="0"/>
              </a:rPr>
              <a:t>,</a:t>
            </a:r>
          </a:p>
          <a:p>
            <a:pPr algn="l"/>
            <a:r>
              <a:rPr lang="en-IN" sz="800" dirty="0">
                <a:latin typeface="Calibri" panose="020F0502020204030204" pitchFamily="34" charset="0"/>
                <a:cs typeface="Calibri" panose="020F0502020204030204" pitchFamily="34" charset="0"/>
              </a:rPr>
              <a:t>        COUNT(DISTINCT </a:t>
            </a:r>
            <a:r>
              <a:rPr lang="en-IN" sz="800" dirty="0" err="1">
                <a:latin typeface="Calibri" panose="020F0502020204030204" pitchFamily="34" charset="0"/>
                <a:cs typeface="Calibri" panose="020F0502020204030204" pitchFamily="34" charset="0"/>
              </a:rPr>
              <a:t>o.customer_id</a:t>
            </a:r>
            <a:r>
              <a:rPr lang="en-IN" sz="800" dirty="0">
                <a:latin typeface="Calibri" panose="020F0502020204030204" pitchFamily="34" charset="0"/>
                <a:cs typeface="Calibri" panose="020F0502020204030204" pitchFamily="34" charset="0"/>
              </a:rPr>
              <a:t>) AS </a:t>
            </a:r>
            <a:r>
              <a:rPr lang="en-IN" sz="800" dirty="0" err="1">
                <a:latin typeface="Calibri" panose="020F0502020204030204" pitchFamily="34" charset="0"/>
                <a:cs typeface="Calibri" panose="020F0502020204030204" pitchFamily="34" charset="0"/>
              </a:rPr>
              <a:t>UniqueCustomerCount</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    FROM </a:t>
            </a:r>
            <a:r>
              <a:rPr lang="en-IN" sz="800" dirty="0" err="1">
                <a:latin typeface="Calibri" panose="020F0502020204030204" pitchFamily="34" charset="0"/>
                <a:cs typeface="Calibri" panose="020F0502020204030204" pitchFamily="34" charset="0"/>
              </a:rPr>
              <a:t>OrderDetails</a:t>
            </a:r>
            <a:r>
              <a:rPr lang="en-IN" sz="800" dirty="0">
                <a:latin typeface="Calibri" panose="020F0502020204030204" pitchFamily="34" charset="0"/>
                <a:cs typeface="Calibri" panose="020F0502020204030204" pitchFamily="34" charset="0"/>
              </a:rPr>
              <a:t> od</a:t>
            </a:r>
          </a:p>
          <a:p>
            <a:pPr algn="l"/>
            <a:r>
              <a:rPr lang="en-IN" sz="800" dirty="0">
                <a:latin typeface="Calibri" panose="020F0502020204030204" pitchFamily="34" charset="0"/>
                <a:cs typeface="Calibri" panose="020F0502020204030204" pitchFamily="34" charset="0"/>
              </a:rPr>
              <a:t>    JOIN Orders o ON </a:t>
            </a:r>
            <a:r>
              <a:rPr lang="en-IN" sz="800" dirty="0" err="1">
                <a:latin typeface="Calibri" panose="020F0502020204030204" pitchFamily="34" charset="0"/>
                <a:cs typeface="Calibri" panose="020F0502020204030204" pitchFamily="34" charset="0"/>
              </a:rPr>
              <a:t>od.order_id</a:t>
            </a:r>
            <a:r>
              <a:rPr lang="en-IN" sz="800" dirty="0">
                <a:latin typeface="Calibri" panose="020F0502020204030204" pitchFamily="34" charset="0"/>
                <a:cs typeface="Calibri" panose="020F0502020204030204" pitchFamily="34" charset="0"/>
              </a:rPr>
              <a:t> = </a:t>
            </a:r>
            <a:r>
              <a:rPr lang="en-IN" sz="800" dirty="0" err="1">
                <a:latin typeface="Calibri" panose="020F0502020204030204" pitchFamily="34" charset="0"/>
                <a:cs typeface="Calibri" panose="020F0502020204030204" pitchFamily="34" charset="0"/>
              </a:rPr>
              <a:t>o.order_id</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    GROUP BY </a:t>
            </a:r>
            <a:r>
              <a:rPr lang="en-IN" sz="800" dirty="0" err="1">
                <a:latin typeface="Calibri" panose="020F0502020204030204" pitchFamily="34" charset="0"/>
                <a:cs typeface="Calibri" panose="020F0502020204030204" pitchFamily="34" charset="0"/>
              </a:rPr>
              <a:t>od.product_id</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a:t>
            </a:r>
          </a:p>
          <a:p>
            <a:pPr algn="l"/>
            <a:r>
              <a:rPr lang="en-IN" sz="800" dirty="0" err="1">
                <a:latin typeface="Calibri" panose="020F0502020204030204" pitchFamily="34" charset="0"/>
                <a:cs typeface="Calibri" panose="020F0502020204030204" pitchFamily="34" charset="0"/>
              </a:rPr>
              <a:t>TotalCustomerBase</a:t>
            </a:r>
            <a:r>
              <a:rPr lang="en-IN" sz="800" dirty="0">
                <a:latin typeface="Calibri" panose="020F0502020204030204" pitchFamily="34" charset="0"/>
                <a:cs typeface="Calibri" panose="020F0502020204030204" pitchFamily="34" charset="0"/>
              </a:rPr>
              <a:t> AS (</a:t>
            </a:r>
          </a:p>
          <a:p>
            <a:pPr algn="l"/>
            <a:r>
              <a:rPr lang="en-IN" sz="800" dirty="0">
                <a:latin typeface="Calibri" panose="020F0502020204030204" pitchFamily="34" charset="0"/>
                <a:cs typeface="Calibri" panose="020F0502020204030204" pitchFamily="34" charset="0"/>
              </a:rPr>
              <a:t>    SELECT COUNT(DISTINCT </a:t>
            </a:r>
            <a:r>
              <a:rPr lang="en-IN" sz="800" dirty="0" err="1">
                <a:latin typeface="Calibri" panose="020F0502020204030204" pitchFamily="34" charset="0"/>
                <a:cs typeface="Calibri" panose="020F0502020204030204" pitchFamily="34" charset="0"/>
              </a:rPr>
              <a:t>customer_id</a:t>
            </a:r>
            <a:r>
              <a:rPr lang="en-IN" sz="800" dirty="0">
                <a:latin typeface="Calibri" panose="020F0502020204030204" pitchFamily="34" charset="0"/>
                <a:cs typeface="Calibri" panose="020F0502020204030204" pitchFamily="34" charset="0"/>
              </a:rPr>
              <a:t>) AS </a:t>
            </a:r>
            <a:r>
              <a:rPr lang="en-IN" sz="800" dirty="0" err="1">
                <a:latin typeface="Calibri" panose="020F0502020204030204" pitchFamily="34" charset="0"/>
                <a:cs typeface="Calibri" panose="020F0502020204030204" pitchFamily="34" charset="0"/>
              </a:rPr>
              <a:t>TotalCustomers</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    FROM Customers</a:t>
            </a:r>
          </a:p>
          <a:p>
            <a:pPr algn="l"/>
            <a:r>
              <a:rPr lang="en-IN" sz="800" dirty="0">
                <a:latin typeface="Calibri" panose="020F0502020204030204" pitchFamily="34" charset="0"/>
                <a:cs typeface="Calibri" panose="020F0502020204030204" pitchFamily="34" charset="0"/>
              </a:rPr>
              <a:t>)</a:t>
            </a:r>
          </a:p>
          <a:p>
            <a:pPr algn="l"/>
            <a:r>
              <a:rPr lang="en-IN" sz="800" dirty="0">
                <a:latin typeface="Calibri" panose="020F0502020204030204" pitchFamily="34" charset="0"/>
                <a:cs typeface="Calibri" panose="020F0502020204030204" pitchFamily="34" charset="0"/>
              </a:rPr>
              <a:t>SELECT </a:t>
            </a:r>
          </a:p>
          <a:p>
            <a:pPr algn="l"/>
            <a:r>
              <a:rPr lang="en-IN" sz="800" dirty="0">
                <a:latin typeface="Calibri" panose="020F0502020204030204" pitchFamily="34" charset="0"/>
                <a:cs typeface="Calibri" panose="020F0502020204030204" pitchFamily="34" charset="0"/>
              </a:rPr>
              <a:t>    </a:t>
            </a:r>
            <a:r>
              <a:rPr lang="en-IN" sz="800" dirty="0" err="1">
                <a:latin typeface="Calibri" panose="020F0502020204030204" pitchFamily="34" charset="0"/>
                <a:cs typeface="Calibri" panose="020F0502020204030204" pitchFamily="34" charset="0"/>
              </a:rPr>
              <a:t>p.product_id</a:t>
            </a:r>
            <a:r>
              <a:rPr lang="en-IN" sz="800" dirty="0">
                <a:latin typeface="Calibri" panose="020F0502020204030204" pitchFamily="34" charset="0"/>
                <a:cs typeface="Calibri" panose="020F0502020204030204" pitchFamily="34" charset="0"/>
              </a:rPr>
              <a:t> as </a:t>
            </a:r>
            <a:r>
              <a:rPr lang="en-IN" sz="800" dirty="0" err="1">
                <a:latin typeface="Calibri" panose="020F0502020204030204" pitchFamily="34" charset="0"/>
                <a:cs typeface="Calibri" panose="020F0502020204030204" pitchFamily="34" charset="0"/>
              </a:rPr>
              <a:t>Product_id</a:t>
            </a:r>
            <a:r>
              <a:rPr lang="en-IN" sz="800" dirty="0">
                <a:latin typeface="Calibri" panose="020F0502020204030204" pitchFamily="34" charset="0"/>
                <a:cs typeface="Calibri" panose="020F0502020204030204" pitchFamily="34" charset="0"/>
              </a:rPr>
              <a:t>,</a:t>
            </a:r>
          </a:p>
          <a:p>
            <a:pPr algn="l"/>
            <a:r>
              <a:rPr lang="en-IN" sz="800" dirty="0">
                <a:latin typeface="Calibri" panose="020F0502020204030204" pitchFamily="34" charset="0"/>
                <a:cs typeface="Calibri" panose="020F0502020204030204" pitchFamily="34" charset="0"/>
              </a:rPr>
              <a:t>    p.name AS Name,</a:t>
            </a:r>
          </a:p>
          <a:p>
            <a:pPr algn="l"/>
            <a:r>
              <a:rPr lang="en-IN" sz="800" dirty="0">
                <a:latin typeface="Calibri" panose="020F0502020204030204" pitchFamily="34" charset="0"/>
                <a:cs typeface="Calibri" panose="020F0502020204030204" pitchFamily="34" charset="0"/>
              </a:rPr>
              <a:t>    </a:t>
            </a:r>
            <a:r>
              <a:rPr lang="en-IN" sz="800" dirty="0" err="1">
                <a:latin typeface="Calibri" panose="020F0502020204030204" pitchFamily="34" charset="0"/>
                <a:cs typeface="Calibri" panose="020F0502020204030204" pitchFamily="34" charset="0"/>
              </a:rPr>
              <a:t>pc.UniqueCustomerCount</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FROM </a:t>
            </a:r>
            <a:r>
              <a:rPr lang="en-IN" sz="800" dirty="0" err="1">
                <a:latin typeface="Calibri" panose="020F0502020204030204" pitchFamily="34" charset="0"/>
                <a:cs typeface="Calibri" panose="020F0502020204030204" pitchFamily="34" charset="0"/>
              </a:rPr>
              <a:t>ProductCustomerCount</a:t>
            </a:r>
            <a:r>
              <a:rPr lang="en-IN" sz="800" dirty="0">
                <a:latin typeface="Calibri" panose="020F0502020204030204" pitchFamily="34" charset="0"/>
                <a:cs typeface="Calibri" panose="020F0502020204030204" pitchFamily="34" charset="0"/>
              </a:rPr>
              <a:t> pc</a:t>
            </a:r>
          </a:p>
          <a:p>
            <a:pPr algn="l"/>
            <a:r>
              <a:rPr lang="en-IN" sz="800" dirty="0">
                <a:latin typeface="Calibri" panose="020F0502020204030204" pitchFamily="34" charset="0"/>
                <a:cs typeface="Calibri" panose="020F0502020204030204" pitchFamily="34" charset="0"/>
              </a:rPr>
              <a:t>JOIN Products p ON </a:t>
            </a:r>
            <a:r>
              <a:rPr lang="en-IN" sz="800" dirty="0" err="1">
                <a:latin typeface="Calibri" panose="020F0502020204030204" pitchFamily="34" charset="0"/>
                <a:cs typeface="Calibri" panose="020F0502020204030204" pitchFamily="34" charset="0"/>
              </a:rPr>
              <a:t>pc.product_id</a:t>
            </a:r>
            <a:r>
              <a:rPr lang="en-IN" sz="800" dirty="0">
                <a:latin typeface="Calibri" panose="020F0502020204030204" pitchFamily="34" charset="0"/>
                <a:cs typeface="Calibri" panose="020F0502020204030204" pitchFamily="34" charset="0"/>
              </a:rPr>
              <a:t> = </a:t>
            </a:r>
            <a:r>
              <a:rPr lang="en-IN" sz="800" dirty="0" err="1">
                <a:latin typeface="Calibri" panose="020F0502020204030204" pitchFamily="34" charset="0"/>
                <a:cs typeface="Calibri" panose="020F0502020204030204" pitchFamily="34" charset="0"/>
              </a:rPr>
              <a:t>p.product_id</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CROSS JOIN </a:t>
            </a:r>
            <a:r>
              <a:rPr lang="en-IN" sz="800" dirty="0" err="1">
                <a:latin typeface="Calibri" panose="020F0502020204030204" pitchFamily="34" charset="0"/>
                <a:cs typeface="Calibri" panose="020F0502020204030204" pitchFamily="34" charset="0"/>
              </a:rPr>
              <a:t>TotalCustomerBase</a:t>
            </a:r>
            <a:r>
              <a:rPr lang="en-IN" sz="800" dirty="0">
                <a:latin typeface="Calibri" panose="020F0502020204030204" pitchFamily="34" charset="0"/>
                <a:cs typeface="Calibri" panose="020F0502020204030204" pitchFamily="34" charset="0"/>
              </a:rPr>
              <a:t> t</a:t>
            </a:r>
          </a:p>
          <a:p>
            <a:pPr algn="l"/>
            <a:r>
              <a:rPr lang="en-IN" sz="800" dirty="0">
                <a:latin typeface="Calibri" panose="020F0502020204030204" pitchFamily="34" charset="0"/>
                <a:cs typeface="Calibri" panose="020F0502020204030204" pitchFamily="34" charset="0"/>
              </a:rPr>
              <a:t>WHERE </a:t>
            </a:r>
            <a:r>
              <a:rPr lang="en-IN" sz="800" dirty="0" err="1">
                <a:latin typeface="Calibri" panose="020F0502020204030204" pitchFamily="34" charset="0"/>
                <a:cs typeface="Calibri" panose="020F0502020204030204" pitchFamily="34" charset="0"/>
              </a:rPr>
              <a:t>pc.UniqueCustomerCount</a:t>
            </a:r>
            <a:r>
              <a:rPr lang="en-IN" sz="800" dirty="0">
                <a:latin typeface="Calibri" panose="020F0502020204030204" pitchFamily="34" charset="0"/>
                <a:cs typeface="Calibri" panose="020F0502020204030204" pitchFamily="34" charset="0"/>
              </a:rPr>
              <a:t> &lt; 0.4 * </a:t>
            </a:r>
            <a:r>
              <a:rPr lang="en-IN" sz="800" dirty="0" err="1">
                <a:latin typeface="Calibri" panose="020F0502020204030204" pitchFamily="34" charset="0"/>
                <a:cs typeface="Calibri" panose="020F0502020204030204" pitchFamily="34" charset="0"/>
              </a:rPr>
              <a:t>t.TotalCustomers</a:t>
            </a:r>
            <a:endParaRPr lang="en-IN" sz="800" dirty="0">
              <a:latin typeface="Calibri" panose="020F0502020204030204" pitchFamily="34" charset="0"/>
              <a:cs typeface="Calibri" panose="020F0502020204030204" pitchFamily="34" charset="0"/>
            </a:endParaRPr>
          </a:p>
          <a:p>
            <a:pPr algn="l"/>
            <a:r>
              <a:rPr lang="en-IN" sz="800" dirty="0">
                <a:latin typeface="Calibri" panose="020F0502020204030204" pitchFamily="34" charset="0"/>
                <a:cs typeface="Calibri" panose="020F0502020204030204" pitchFamily="34" charset="0"/>
              </a:rPr>
              <a:t>ORDER BY </a:t>
            </a:r>
            <a:r>
              <a:rPr lang="en-IN" sz="800" dirty="0" err="1">
                <a:latin typeface="Calibri" panose="020F0502020204030204" pitchFamily="34" charset="0"/>
                <a:cs typeface="Calibri" panose="020F0502020204030204" pitchFamily="34" charset="0"/>
              </a:rPr>
              <a:t>pc.UniqueCustomerCount</a:t>
            </a:r>
            <a:r>
              <a:rPr lang="en-IN" sz="800" dirty="0">
                <a:latin typeface="Calibri" panose="020F0502020204030204" pitchFamily="34" charset="0"/>
                <a:cs typeface="Calibri" panose="020F0502020204030204" pitchFamily="34" charset="0"/>
              </a:rPr>
              <a:t> ASC;</a:t>
            </a:r>
          </a:p>
        </p:txBody>
      </p:sp>
      <p:sp>
        <p:nvSpPr>
          <p:cNvPr id="5" name="Rectangle 4"/>
          <p:cNvSpPr/>
          <p:nvPr/>
        </p:nvSpPr>
        <p:spPr>
          <a:xfrm>
            <a:off x="2968487" y="278417"/>
            <a:ext cx="5784349" cy="577081"/>
          </a:xfrm>
          <a:prstGeom prst="rect">
            <a:avLst/>
          </a:prstGeom>
        </p:spPr>
        <p:txBody>
          <a:bodyPr wrap="square">
            <a:spAutoFit/>
          </a:bodyPr>
          <a:lstStyle/>
          <a:p>
            <a:r>
              <a:rPr lang="en-US" sz="1050" dirty="0" smtClean="0">
                <a:solidFill>
                  <a:schemeClr val="accent3">
                    <a:lumMod val="75000"/>
                    <a:lumOff val="25000"/>
                  </a:schemeClr>
                </a:solidFill>
                <a:latin typeface="Calibri" panose="020F0502020204030204" pitchFamily="34" charset="0"/>
                <a:cs typeface="Calibri" panose="020F0502020204030204" pitchFamily="34" charset="0"/>
              </a:rPr>
              <a:t>Due to </a:t>
            </a:r>
            <a:r>
              <a:rPr lang="en-US" sz="1050" dirty="0">
                <a:solidFill>
                  <a:schemeClr val="accent3">
                    <a:lumMod val="75000"/>
                    <a:lumOff val="25000"/>
                  </a:schemeClr>
                </a:solidFill>
                <a:latin typeface="Calibri" panose="020F0502020204030204" pitchFamily="34" charset="0"/>
                <a:cs typeface="Calibri" panose="020F0502020204030204" pitchFamily="34" charset="0"/>
              </a:rPr>
              <a:t>Poor visibility on the platform </a:t>
            </a:r>
            <a:r>
              <a:rPr lang="en-US" sz="1000" dirty="0">
                <a:latin typeface="Calibri" panose="020F0502020204030204" pitchFamily="34" charset="0"/>
                <a:cs typeface="Calibri" panose="020F0502020204030204" pitchFamily="34" charset="0"/>
              </a:rPr>
              <a:t>products have purchase rates below 40% of the total customer </a:t>
            </a:r>
            <a:r>
              <a:rPr lang="en-US" sz="1000" dirty="0" smtClean="0">
                <a:latin typeface="Calibri" panose="020F0502020204030204" pitchFamily="34" charset="0"/>
                <a:cs typeface="Calibri" panose="020F0502020204030204" pitchFamily="34" charset="0"/>
              </a:rPr>
              <a:t>base</a:t>
            </a:r>
          </a:p>
          <a:p>
            <a:r>
              <a:rPr lang="en-US" sz="1000" dirty="0">
                <a:latin typeface="Calibri" panose="020F0502020204030204" pitchFamily="34" charset="0"/>
                <a:cs typeface="Calibri" panose="020F0502020204030204" pitchFamily="34" charset="0"/>
              </a:rPr>
              <a:t>strategic action to improve the sales of these underperforming </a:t>
            </a:r>
            <a:r>
              <a:rPr lang="en-US" sz="1000" dirty="0" smtClean="0">
                <a:latin typeface="Calibri" panose="020F0502020204030204" pitchFamily="34" charset="0"/>
                <a:cs typeface="Calibri" panose="020F0502020204030204" pitchFamily="34" charset="0"/>
              </a:rPr>
              <a:t>products </a:t>
            </a:r>
            <a:r>
              <a:rPr lang="en-US" sz="1050" dirty="0" smtClean="0">
                <a:solidFill>
                  <a:schemeClr val="accent3">
                    <a:lumMod val="75000"/>
                    <a:lumOff val="25000"/>
                  </a:schemeClr>
                </a:solidFill>
                <a:latin typeface="Calibri" panose="020F0502020204030204" pitchFamily="34" charset="0"/>
                <a:cs typeface="Calibri" panose="020F0502020204030204" pitchFamily="34" charset="0"/>
              </a:rPr>
              <a:t>is  Implement </a:t>
            </a:r>
            <a:r>
              <a:rPr lang="en-US" sz="1050" dirty="0">
                <a:solidFill>
                  <a:schemeClr val="accent3">
                    <a:lumMod val="75000"/>
                    <a:lumOff val="25000"/>
                  </a:schemeClr>
                </a:solidFill>
                <a:latin typeface="Calibri" panose="020F0502020204030204" pitchFamily="34" charset="0"/>
                <a:cs typeface="Calibri" panose="020F0502020204030204" pitchFamily="34" charset="0"/>
              </a:rPr>
              <a:t>targeted marketing campaigns to raise awareness and interest</a:t>
            </a:r>
            <a:r>
              <a:rPr lang="en-US" sz="1050" dirty="0" smtClean="0">
                <a:solidFill>
                  <a:schemeClr val="accent3">
                    <a:lumMod val="75000"/>
                    <a:lumOff val="25000"/>
                  </a:schemeClr>
                </a:solidFill>
                <a:latin typeface="Calibri" panose="020F0502020204030204" pitchFamily="34" charset="0"/>
                <a:cs typeface="Calibri" panose="020F0502020204030204" pitchFamily="34" charset="0"/>
              </a:rPr>
              <a:t>. </a:t>
            </a:r>
            <a:endParaRPr lang="en-US" sz="105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73342" y="67545"/>
            <a:ext cx="8784829" cy="442665"/>
          </a:xfrm>
        </p:spPr>
        <p:txBody>
          <a:bodyPr/>
          <a:lstStyle/>
          <a:p>
            <a:pPr algn="l"/>
            <a:r>
              <a:rPr lang="en-US" sz="1050" b="0" dirty="0">
                <a:latin typeface="Calibri" panose="020F0502020204030204" pitchFamily="34" charset="0"/>
                <a:cs typeface="Calibri" panose="020F0502020204030204" pitchFamily="34" charset="0"/>
              </a:rPr>
              <a:t>List products purchased by less than 40% of the customer base, indicating potential mismatches between inventory and customer </a:t>
            </a:r>
            <a:r>
              <a:rPr lang="en-US" sz="1050" b="0" dirty="0" smtClean="0">
                <a:latin typeface="Calibri" panose="020F0502020204030204" pitchFamily="34" charset="0"/>
                <a:cs typeface="Calibri" panose="020F0502020204030204" pitchFamily="34" charset="0"/>
              </a:rPr>
              <a:t>interest  -</a:t>
            </a:r>
            <a:r>
              <a:rPr lang="en-IN" sz="1050" b="0" dirty="0">
                <a:latin typeface="Calibri" panose="020F0502020204030204" pitchFamily="34" charset="0"/>
                <a:cs typeface="Calibri" panose="020F0502020204030204" pitchFamily="34" charset="0"/>
              </a:rPr>
              <a:t> </a:t>
            </a:r>
            <a:r>
              <a:rPr lang="en-IN" sz="1050" b="0" dirty="0" smtClean="0">
                <a:latin typeface="Calibri" panose="020F0502020204030204" pitchFamily="34" charset="0"/>
                <a:cs typeface="Calibri" panose="020F0502020204030204" pitchFamily="34" charset="0"/>
              </a:rPr>
              <a:t/>
            </a:r>
            <a:br>
              <a:rPr lang="en-IN" sz="1050" b="0" dirty="0" smtClean="0">
                <a:latin typeface="Calibri" panose="020F0502020204030204" pitchFamily="34" charset="0"/>
                <a:cs typeface="Calibri" panose="020F0502020204030204" pitchFamily="34" charset="0"/>
              </a:rPr>
            </a:br>
            <a:r>
              <a:rPr lang="en-IN" sz="1200" dirty="0" smtClean="0">
                <a:latin typeface="Calibri" panose="020F0502020204030204" pitchFamily="34" charset="0"/>
                <a:cs typeface="Calibri" panose="020F0502020204030204" pitchFamily="34" charset="0"/>
              </a:rPr>
              <a:t>Low </a:t>
            </a:r>
            <a:r>
              <a:rPr lang="en-IN" sz="1200" dirty="0">
                <a:latin typeface="Calibri" panose="020F0502020204030204" pitchFamily="34" charset="0"/>
                <a:cs typeface="Calibri" panose="020F0502020204030204" pitchFamily="34" charset="0"/>
              </a:rPr>
              <a:t>Engagement Products </a:t>
            </a:r>
            <a:endParaRPr lang="en-IN" sz="120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7878" y="960333"/>
            <a:ext cx="6076122" cy="3863458"/>
          </a:xfrm>
          <a:prstGeom prst="rect">
            <a:avLst/>
          </a:prstGeom>
        </p:spPr>
      </p:pic>
    </p:spTree>
    <p:extLst>
      <p:ext uri="{BB962C8B-B14F-4D97-AF65-F5344CB8AC3E}">
        <p14:creationId xmlns:p14="http://schemas.microsoft.com/office/powerpoint/2010/main" val="42859481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08315"/>
            <a:ext cx="2729491" cy="2366798"/>
          </a:xfrm>
        </p:spPr>
        <p:txBody>
          <a:bodyPr/>
          <a:lstStyle/>
          <a:p>
            <a:pPr algn="l"/>
            <a:r>
              <a:rPr lang="en-US" sz="1000" dirty="0">
                <a:latin typeface="Calibri" panose="020F0502020204030204" pitchFamily="34" charset="0"/>
                <a:cs typeface="Calibri" panose="020F0502020204030204" pitchFamily="34" charset="0"/>
              </a:rPr>
              <a:t>SELECT</a:t>
            </a:r>
          </a:p>
          <a:p>
            <a:pPr algn="l"/>
            <a:r>
              <a:rPr lang="en-US" sz="1000" dirty="0">
                <a:latin typeface="Calibri" panose="020F0502020204030204" pitchFamily="34" charset="0"/>
                <a:cs typeface="Calibri" panose="020F0502020204030204" pitchFamily="34" charset="0"/>
              </a:rPr>
              <a:t>    DATE_FORMAT(</a:t>
            </a:r>
            <a:r>
              <a:rPr lang="en-US" sz="1000" dirty="0" err="1">
                <a:latin typeface="Calibri" panose="020F0502020204030204" pitchFamily="34" charset="0"/>
                <a:cs typeface="Calibri" panose="020F0502020204030204" pitchFamily="34" charset="0"/>
              </a:rPr>
              <a:t>first_purchase_date</a:t>
            </a:r>
            <a:r>
              <a:rPr lang="en-US" sz="1000" dirty="0">
                <a:latin typeface="Calibri" panose="020F0502020204030204" pitchFamily="34" charset="0"/>
                <a:cs typeface="Calibri" panose="020F0502020204030204" pitchFamily="34" charset="0"/>
              </a:rPr>
              <a:t>, '%Y-%m') AS </a:t>
            </a:r>
            <a:r>
              <a:rPr lang="en-US" sz="1000" dirty="0" err="1">
                <a:latin typeface="Calibri" panose="020F0502020204030204" pitchFamily="34" charset="0"/>
                <a:cs typeface="Calibri" panose="020F0502020204030204" pitchFamily="34" charset="0"/>
              </a:rPr>
              <a:t>FirstPurchaseMonth</a:t>
            </a:r>
            <a:r>
              <a:rPr lang="en-US" sz="1000" dirty="0">
                <a:latin typeface="Calibri" panose="020F0502020204030204" pitchFamily="34" charset="0"/>
                <a:cs typeface="Calibri" panose="020F0502020204030204" pitchFamily="34" charset="0"/>
              </a:rPr>
              <a:t>,</a:t>
            </a:r>
          </a:p>
          <a:p>
            <a:pPr algn="l"/>
            <a:r>
              <a:rPr lang="en-US" sz="1000" dirty="0">
                <a:latin typeface="Calibri" panose="020F0502020204030204" pitchFamily="34" charset="0"/>
                <a:cs typeface="Calibri" panose="020F0502020204030204" pitchFamily="34" charset="0"/>
              </a:rPr>
              <a:t>    COUNT(*) AS </a:t>
            </a:r>
            <a:r>
              <a:rPr lang="en-US" sz="1000" dirty="0" err="1">
                <a:latin typeface="Calibri" panose="020F0502020204030204" pitchFamily="34" charset="0"/>
                <a:cs typeface="Calibri" panose="020F0502020204030204" pitchFamily="34" charset="0"/>
              </a:rPr>
              <a:t>TotalNewCustomers</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FROM (</a:t>
            </a:r>
          </a:p>
          <a:p>
            <a:pPr algn="l"/>
            <a:r>
              <a:rPr lang="en-US" sz="1000" dirty="0">
                <a:latin typeface="Calibri" panose="020F0502020204030204" pitchFamily="34" charset="0"/>
                <a:cs typeface="Calibri" panose="020F0502020204030204" pitchFamily="34" charset="0"/>
              </a:rPr>
              <a:t>    SELECT</a:t>
            </a:r>
          </a:p>
          <a:p>
            <a:pPr algn="l"/>
            <a:r>
              <a:rPr lang="en-US" sz="1000" dirty="0">
                <a:latin typeface="Calibri" panose="020F0502020204030204" pitchFamily="34" charset="0"/>
                <a:cs typeface="Calibri" panose="020F0502020204030204" pitchFamily="34" charset="0"/>
              </a:rPr>
              <a:t>        </a:t>
            </a:r>
            <a:r>
              <a:rPr lang="en-US" sz="1000" dirty="0" err="1">
                <a:latin typeface="Calibri" panose="020F0502020204030204" pitchFamily="34" charset="0"/>
                <a:cs typeface="Calibri" panose="020F0502020204030204" pitchFamily="34" charset="0"/>
              </a:rPr>
              <a:t>customer_id</a:t>
            </a:r>
            <a:r>
              <a:rPr lang="en-US" sz="1000" dirty="0">
                <a:latin typeface="Calibri" panose="020F0502020204030204" pitchFamily="34" charset="0"/>
                <a:cs typeface="Calibri" panose="020F0502020204030204" pitchFamily="34" charset="0"/>
              </a:rPr>
              <a:t>,</a:t>
            </a:r>
          </a:p>
          <a:p>
            <a:pPr algn="l"/>
            <a:r>
              <a:rPr lang="en-US" sz="1000" dirty="0">
                <a:latin typeface="Calibri" panose="020F0502020204030204" pitchFamily="34" charset="0"/>
                <a:cs typeface="Calibri" panose="020F0502020204030204" pitchFamily="34" charset="0"/>
              </a:rPr>
              <a:t>        MIN(</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AS </a:t>
            </a:r>
            <a:r>
              <a:rPr lang="en-US" sz="1000" dirty="0" err="1">
                <a:latin typeface="Calibri" panose="020F0502020204030204" pitchFamily="34" charset="0"/>
                <a:cs typeface="Calibri" panose="020F0502020204030204" pitchFamily="34" charset="0"/>
              </a:rPr>
              <a:t>first_purchase_date</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    FROM Orders</a:t>
            </a:r>
          </a:p>
          <a:p>
            <a:pPr algn="l"/>
            <a:r>
              <a:rPr lang="en-US" sz="1000" dirty="0">
                <a:latin typeface="Calibri" panose="020F0502020204030204" pitchFamily="34" charset="0"/>
                <a:cs typeface="Calibri" panose="020F0502020204030204" pitchFamily="34" charset="0"/>
              </a:rPr>
              <a:t>    GROUP BY </a:t>
            </a:r>
            <a:r>
              <a:rPr lang="en-US" sz="1000" dirty="0" err="1">
                <a:latin typeface="Calibri" panose="020F0502020204030204" pitchFamily="34" charset="0"/>
                <a:cs typeface="Calibri" panose="020F0502020204030204" pitchFamily="34" charset="0"/>
              </a:rPr>
              <a:t>customer_id</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 AS </a:t>
            </a:r>
            <a:r>
              <a:rPr lang="en-US" sz="1000" dirty="0" err="1">
                <a:latin typeface="Calibri" panose="020F0502020204030204" pitchFamily="34" charset="0"/>
                <a:cs typeface="Calibri" panose="020F0502020204030204" pitchFamily="34" charset="0"/>
              </a:rPr>
              <a:t>first_orders</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GROUP BY DATE_FORMAT(</a:t>
            </a:r>
            <a:r>
              <a:rPr lang="en-US" sz="1000" dirty="0" err="1">
                <a:latin typeface="Calibri" panose="020F0502020204030204" pitchFamily="34" charset="0"/>
                <a:cs typeface="Calibri" panose="020F0502020204030204" pitchFamily="34" charset="0"/>
              </a:rPr>
              <a:t>first_purchase_date</a:t>
            </a:r>
            <a:r>
              <a:rPr lang="en-US" sz="1000" dirty="0">
                <a:latin typeface="Calibri" panose="020F0502020204030204" pitchFamily="34" charset="0"/>
                <a:cs typeface="Calibri" panose="020F0502020204030204" pitchFamily="34" charset="0"/>
              </a:rPr>
              <a:t>, '%Y-%m')</a:t>
            </a:r>
          </a:p>
          <a:p>
            <a:pPr algn="l"/>
            <a:r>
              <a:rPr lang="en-US" sz="1000" dirty="0">
                <a:latin typeface="Calibri" panose="020F0502020204030204" pitchFamily="34" charset="0"/>
                <a:cs typeface="Calibri" panose="020F0502020204030204" pitchFamily="34" charset="0"/>
              </a:rPr>
              <a:t>ORDER BY </a:t>
            </a:r>
            <a:r>
              <a:rPr lang="en-US" sz="1000" dirty="0" err="1">
                <a:latin typeface="Calibri" panose="020F0502020204030204" pitchFamily="34" charset="0"/>
                <a:cs typeface="Calibri" panose="020F0502020204030204" pitchFamily="34" charset="0"/>
              </a:rPr>
              <a:t>FirstPurchaseMonth</a:t>
            </a:r>
            <a:r>
              <a:rPr lang="en-US" sz="1000" dirty="0">
                <a:latin typeface="Calibri" panose="020F0502020204030204" pitchFamily="34" charset="0"/>
                <a:cs typeface="Calibri" panose="020F0502020204030204" pitchFamily="34" charset="0"/>
              </a:rPr>
              <a:t> ASC;</a:t>
            </a:r>
          </a:p>
          <a:p>
            <a:pPr algn="l"/>
            <a:endParaRPr lang="en-IN" sz="1000" dirty="0">
              <a:latin typeface="Calibri" panose="020F0502020204030204" pitchFamily="34" charset="0"/>
              <a:cs typeface="Calibri" panose="020F0502020204030204" pitchFamily="34" charset="0"/>
            </a:endParaRPr>
          </a:p>
        </p:txBody>
      </p:sp>
      <p:sp>
        <p:nvSpPr>
          <p:cNvPr id="5" name="Rectangle 4"/>
          <p:cNvSpPr/>
          <p:nvPr/>
        </p:nvSpPr>
        <p:spPr>
          <a:xfrm>
            <a:off x="92085" y="3114382"/>
            <a:ext cx="2696816" cy="1238801"/>
          </a:xfrm>
          <a:prstGeom prst="rect">
            <a:avLst/>
          </a:prstGeom>
        </p:spPr>
        <p:txBody>
          <a:bodyPr wrap="square">
            <a:spAutoFit/>
          </a:bodyPr>
          <a:lstStyle/>
          <a:p>
            <a:r>
              <a:rPr lang="en-US" sz="1050" dirty="0">
                <a:solidFill>
                  <a:schemeClr val="tx1"/>
                </a:solidFill>
                <a:latin typeface="Calibri" panose="020F0502020204030204" pitchFamily="34" charset="0"/>
                <a:cs typeface="Calibri" panose="020F0502020204030204" pitchFamily="34" charset="0"/>
              </a:rPr>
              <a:t>It is downward trend which implies the marketing campaign are not much effective</a:t>
            </a:r>
            <a:r>
              <a:rPr lang="en-US" sz="1050" dirty="0" smtClean="0">
                <a:solidFill>
                  <a:schemeClr val="tx1"/>
                </a:solidFill>
                <a:latin typeface="Calibri" panose="020F0502020204030204" pitchFamily="34" charset="0"/>
                <a:cs typeface="Calibri" panose="020F0502020204030204" pitchFamily="34" charset="0"/>
              </a:rPr>
              <a:t>.</a:t>
            </a:r>
          </a:p>
          <a:p>
            <a:r>
              <a:rPr lang="en-US" sz="1100" dirty="0" smtClean="0">
                <a:solidFill>
                  <a:schemeClr val="tx1"/>
                </a:solidFill>
                <a:latin typeface="Calibri" panose="020F0502020204030204" pitchFamily="34" charset="0"/>
                <a:cs typeface="Calibri" panose="020F0502020204030204" pitchFamily="34" charset="0"/>
              </a:rPr>
              <a:t> </a:t>
            </a:r>
          </a:p>
          <a:p>
            <a:r>
              <a:rPr lang="en-US" sz="1000" dirty="0" smtClean="0">
                <a:latin typeface="Calibri" panose="020F0502020204030204" pitchFamily="34" charset="0"/>
                <a:cs typeface="Calibri" panose="020F0502020204030204" pitchFamily="34" charset="0"/>
              </a:rPr>
              <a:t>strategic </a:t>
            </a:r>
            <a:r>
              <a:rPr lang="en-US" sz="1000" dirty="0">
                <a:latin typeface="Calibri" panose="020F0502020204030204" pitchFamily="34" charset="0"/>
                <a:cs typeface="Calibri" panose="020F0502020204030204" pitchFamily="34" charset="0"/>
              </a:rPr>
              <a:t>action to improve the sales of these underperforming </a:t>
            </a:r>
            <a:r>
              <a:rPr lang="en-US" sz="1000" dirty="0" smtClean="0">
                <a:latin typeface="Calibri" panose="020F0502020204030204" pitchFamily="34" charset="0"/>
                <a:cs typeface="Calibri" panose="020F0502020204030204" pitchFamily="34" charset="0"/>
              </a:rPr>
              <a:t>products </a:t>
            </a:r>
            <a:r>
              <a:rPr lang="en-US" sz="1050" dirty="0" smtClean="0">
                <a:solidFill>
                  <a:schemeClr val="accent3">
                    <a:lumMod val="75000"/>
                    <a:lumOff val="25000"/>
                  </a:schemeClr>
                </a:solidFill>
                <a:latin typeface="Calibri" panose="020F0502020204030204" pitchFamily="34" charset="0"/>
                <a:cs typeface="Calibri" panose="020F0502020204030204" pitchFamily="34" charset="0"/>
              </a:rPr>
              <a:t>is  Implement </a:t>
            </a:r>
            <a:r>
              <a:rPr lang="en-US" sz="1050" dirty="0">
                <a:solidFill>
                  <a:schemeClr val="accent3">
                    <a:lumMod val="75000"/>
                    <a:lumOff val="25000"/>
                  </a:schemeClr>
                </a:solidFill>
                <a:latin typeface="Calibri" panose="020F0502020204030204" pitchFamily="34" charset="0"/>
                <a:cs typeface="Calibri" panose="020F0502020204030204" pitchFamily="34" charset="0"/>
              </a:rPr>
              <a:t>targeted marketing campaigns to raise awareness and interest</a:t>
            </a:r>
            <a:r>
              <a:rPr lang="en-US" sz="1050" dirty="0" smtClean="0">
                <a:solidFill>
                  <a:schemeClr val="accent3">
                    <a:lumMod val="75000"/>
                    <a:lumOff val="25000"/>
                  </a:schemeClr>
                </a:solidFill>
                <a:latin typeface="Calibri" panose="020F0502020204030204" pitchFamily="34" charset="0"/>
                <a:cs typeface="Calibri" panose="020F0502020204030204" pitchFamily="34" charset="0"/>
              </a:rPr>
              <a:t>. </a:t>
            </a:r>
            <a:endParaRPr lang="en-US" sz="105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139603" y="93346"/>
            <a:ext cx="8784829" cy="375700"/>
          </a:xfrm>
        </p:spPr>
        <p:txBody>
          <a:bodyPr/>
          <a:lstStyle/>
          <a:p>
            <a:pPr algn="l"/>
            <a:r>
              <a:rPr lang="en-US" sz="1000" b="0" dirty="0">
                <a:latin typeface="Calibri" panose="020F0502020204030204" pitchFamily="34" charset="0"/>
                <a:cs typeface="Calibri" panose="020F0502020204030204" pitchFamily="34" charset="0"/>
              </a:rPr>
              <a:t>Evaluate the month-on-month growth rate in the customer base to understand the effectiveness of marketing campaigns and market expansion </a:t>
            </a:r>
            <a:r>
              <a:rPr lang="en-US" sz="1000" b="0" dirty="0" smtClean="0">
                <a:latin typeface="Calibri" panose="020F0502020204030204" pitchFamily="34" charset="0"/>
                <a:cs typeface="Calibri" panose="020F0502020204030204" pitchFamily="34" charset="0"/>
              </a:rPr>
              <a:t>.</a:t>
            </a:r>
            <a:r>
              <a:rPr lang="en-IN" sz="1000" b="0" dirty="0">
                <a:latin typeface="Calibri" panose="020F0502020204030204" pitchFamily="34" charset="0"/>
                <a:cs typeface="Calibri" panose="020F0502020204030204" pitchFamily="34" charset="0"/>
              </a:rPr>
              <a:t> </a:t>
            </a:r>
            <a:r>
              <a:rPr lang="en-IN" sz="1000" b="0" dirty="0" smtClean="0">
                <a:latin typeface="Calibri" panose="020F0502020204030204" pitchFamily="34" charset="0"/>
                <a:cs typeface="Calibri" panose="020F0502020204030204" pitchFamily="34" charset="0"/>
              </a:rPr>
              <a:t/>
            </a:r>
            <a:br>
              <a:rPr lang="en-IN" sz="1000" b="0" dirty="0" smtClean="0">
                <a:latin typeface="Calibri" panose="020F0502020204030204" pitchFamily="34" charset="0"/>
                <a:cs typeface="Calibri" panose="020F0502020204030204" pitchFamily="34" charset="0"/>
              </a:rPr>
            </a:br>
            <a:r>
              <a:rPr lang="en-IN" sz="1000" b="0" dirty="0" smtClean="0">
                <a:solidFill>
                  <a:schemeClr val="accent3">
                    <a:lumMod val="75000"/>
                    <a:lumOff val="25000"/>
                  </a:schemeClr>
                </a:solidFill>
                <a:latin typeface="Calibri" panose="020F0502020204030204" pitchFamily="34" charset="0"/>
                <a:cs typeface="Calibri" panose="020F0502020204030204" pitchFamily="34" charset="0"/>
              </a:rPr>
              <a:t>Customer </a:t>
            </a:r>
            <a:r>
              <a:rPr lang="en-IN" sz="1000" b="0" dirty="0">
                <a:solidFill>
                  <a:schemeClr val="accent3">
                    <a:lumMod val="75000"/>
                    <a:lumOff val="25000"/>
                  </a:schemeClr>
                </a:solidFill>
                <a:latin typeface="Calibri" panose="020F0502020204030204" pitchFamily="34" charset="0"/>
                <a:cs typeface="Calibri" panose="020F0502020204030204" pitchFamily="34" charset="0"/>
              </a:rPr>
              <a:t>Acquisition Trends </a:t>
            </a:r>
            <a:endParaRPr lang="en-IN" sz="1000" dirty="0">
              <a:solidFill>
                <a:schemeClr val="accent3">
                  <a:lumMod val="75000"/>
                  <a:lumOff val="2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9597" y="281196"/>
            <a:ext cx="5994835" cy="4459357"/>
          </a:xfrm>
          <a:prstGeom prst="rect">
            <a:avLst/>
          </a:prstGeom>
        </p:spPr>
      </p:pic>
    </p:spTree>
    <p:extLst>
      <p:ext uri="{BB962C8B-B14F-4D97-AF65-F5344CB8AC3E}">
        <p14:creationId xmlns:p14="http://schemas.microsoft.com/office/powerpoint/2010/main" val="16188396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08315"/>
            <a:ext cx="2855843" cy="1478902"/>
          </a:xfrm>
        </p:spPr>
        <p:txBody>
          <a:bodyPr/>
          <a:lstStyle/>
          <a:p>
            <a:pPr algn="l"/>
            <a:r>
              <a:rPr lang="en-US" sz="1000" dirty="0">
                <a:latin typeface="Calibri" panose="020F0502020204030204" pitchFamily="34" charset="0"/>
                <a:cs typeface="Calibri" panose="020F0502020204030204" pitchFamily="34" charset="0"/>
              </a:rPr>
              <a:t>SELECT</a:t>
            </a:r>
          </a:p>
          <a:p>
            <a:pPr algn="l"/>
            <a:r>
              <a:rPr lang="en-US" sz="1000" dirty="0">
                <a:latin typeface="Calibri" panose="020F0502020204030204" pitchFamily="34" charset="0"/>
                <a:cs typeface="Calibri" panose="020F0502020204030204" pitchFamily="34" charset="0"/>
              </a:rPr>
              <a:t>    DATE_FORMAT(</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'%Y-%m') AS Month,</a:t>
            </a:r>
          </a:p>
          <a:p>
            <a:pPr algn="l"/>
            <a:r>
              <a:rPr lang="en-US" sz="1000" dirty="0">
                <a:latin typeface="Calibri" panose="020F0502020204030204" pitchFamily="34" charset="0"/>
                <a:cs typeface="Calibri" panose="020F0502020204030204" pitchFamily="34" charset="0"/>
              </a:rPr>
              <a:t>    SUM(</a:t>
            </a:r>
            <a:r>
              <a:rPr lang="en-US" sz="1000" dirty="0" err="1">
                <a:latin typeface="Calibri" panose="020F0502020204030204" pitchFamily="34" charset="0"/>
                <a:cs typeface="Calibri" panose="020F0502020204030204" pitchFamily="34" charset="0"/>
              </a:rPr>
              <a:t>total_amount</a:t>
            </a:r>
            <a:r>
              <a:rPr lang="en-US" sz="1000" dirty="0">
                <a:latin typeface="Calibri" panose="020F0502020204030204" pitchFamily="34" charset="0"/>
                <a:cs typeface="Calibri" panose="020F0502020204030204" pitchFamily="34" charset="0"/>
              </a:rPr>
              <a:t>) AS </a:t>
            </a:r>
            <a:r>
              <a:rPr lang="en-US" sz="1000" dirty="0" err="1">
                <a:latin typeface="Calibri" panose="020F0502020204030204" pitchFamily="34" charset="0"/>
                <a:cs typeface="Calibri" panose="020F0502020204030204" pitchFamily="34" charset="0"/>
              </a:rPr>
              <a:t>TotalSales</a:t>
            </a:r>
            <a:endParaRPr lang="en-US" sz="1000" dirty="0">
              <a:latin typeface="Calibri" panose="020F0502020204030204" pitchFamily="34" charset="0"/>
              <a:cs typeface="Calibri" panose="020F0502020204030204" pitchFamily="34" charset="0"/>
            </a:endParaRPr>
          </a:p>
          <a:p>
            <a:pPr algn="l"/>
            <a:r>
              <a:rPr lang="en-US" sz="1000" dirty="0">
                <a:latin typeface="Calibri" panose="020F0502020204030204" pitchFamily="34" charset="0"/>
                <a:cs typeface="Calibri" panose="020F0502020204030204" pitchFamily="34" charset="0"/>
              </a:rPr>
              <a:t>FROM Orders</a:t>
            </a:r>
          </a:p>
          <a:p>
            <a:pPr algn="l"/>
            <a:r>
              <a:rPr lang="en-US" sz="1000" dirty="0">
                <a:latin typeface="Calibri" panose="020F0502020204030204" pitchFamily="34" charset="0"/>
                <a:cs typeface="Calibri" panose="020F0502020204030204" pitchFamily="34" charset="0"/>
              </a:rPr>
              <a:t>GROUP BY DATE_FORMAT(</a:t>
            </a:r>
            <a:r>
              <a:rPr lang="en-US" sz="1000" dirty="0" err="1">
                <a:latin typeface="Calibri" panose="020F0502020204030204" pitchFamily="34" charset="0"/>
                <a:cs typeface="Calibri" panose="020F0502020204030204" pitchFamily="34" charset="0"/>
              </a:rPr>
              <a:t>order_date</a:t>
            </a:r>
            <a:r>
              <a:rPr lang="en-US" sz="1000" dirty="0">
                <a:latin typeface="Calibri" panose="020F0502020204030204" pitchFamily="34" charset="0"/>
                <a:cs typeface="Calibri" panose="020F0502020204030204" pitchFamily="34" charset="0"/>
              </a:rPr>
              <a:t>, '%Y-%m')</a:t>
            </a:r>
          </a:p>
          <a:p>
            <a:pPr algn="l"/>
            <a:r>
              <a:rPr lang="en-US" sz="1000" dirty="0">
                <a:latin typeface="Calibri" panose="020F0502020204030204" pitchFamily="34" charset="0"/>
                <a:cs typeface="Calibri" panose="020F0502020204030204" pitchFamily="34" charset="0"/>
              </a:rPr>
              <a:t>ORDER BY </a:t>
            </a:r>
            <a:r>
              <a:rPr lang="en-US" sz="1000" dirty="0" err="1">
                <a:latin typeface="Calibri" panose="020F0502020204030204" pitchFamily="34" charset="0"/>
                <a:cs typeface="Calibri" panose="020F0502020204030204" pitchFamily="34" charset="0"/>
              </a:rPr>
              <a:t>TotalSales</a:t>
            </a:r>
            <a:r>
              <a:rPr lang="en-US" sz="1000" dirty="0">
                <a:latin typeface="Calibri" panose="020F0502020204030204" pitchFamily="34" charset="0"/>
                <a:cs typeface="Calibri" panose="020F0502020204030204" pitchFamily="34" charset="0"/>
              </a:rPr>
              <a:t> DESC</a:t>
            </a:r>
          </a:p>
          <a:p>
            <a:pPr algn="l"/>
            <a:r>
              <a:rPr lang="en-US" sz="1000" dirty="0">
                <a:latin typeface="Calibri" panose="020F0502020204030204" pitchFamily="34" charset="0"/>
                <a:cs typeface="Calibri" panose="020F0502020204030204" pitchFamily="34" charset="0"/>
              </a:rPr>
              <a:t>LIMIT 3;</a:t>
            </a:r>
          </a:p>
          <a:p>
            <a:pPr algn="l"/>
            <a:endParaRPr lang="en-IN" sz="200" dirty="0">
              <a:latin typeface="Calibri" panose="020F0502020204030204" pitchFamily="34" charset="0"/>
              <a:cs typeface="Calibri" panose="020F0502020204030204" pitchFamily="34" charset="0"/>
            </a:endParaRPr>
          </a:p>
        </p:txBody>
      </p:sp>
      <p:sp>
        <p:nvSpPr>
          <p:cNvPr id="5" name="Rectangle 4"/>
          <p:cNvSpPr/>
          <p:nvPr/>
        </p:nvSpPr>
        <p:spPr>
          <a:xfrm>
            <a:off x="92085" y="3763738"/>
            <a:ext cx="2696816" cy="615553"/>
          </a:xfrm>
          <a:prstGeom prst="rect">
            <a:avLst/>
          </a:prstGeom>
        </p:spPr>
        <p:txBody>
          <a:bodyPr wrap="square">
            <a:spAutoFit/>
          </a:bodyPr>
          <a:lstStyle/>
          <a:p>
            <a:r>
              <a:rPr lang="en-US" sz="1200" dirty="0" smtClean="0">
                <a:solidFill>
                  <a:schemeClr val="accent3">
                    <a:lumMod val="75000"/>
                    <a:lumOff val="25000"/>
                  </a:schemeClr>
                </a:solidFill>
                <a:latin typeface="Calibri" panose="020F0502020204030204" pitchFamily="34" charset="0"/>
                <a:cs typeface="Calibri" panose="020F0502020204030204" pitchFamily="34" charset="0"/>
              </a:rPr>
              <a:t>September and December </a:t>
            </a:r>
            <a:r>
              <a:rPr lang="en-US" sz="1100" dirty="0" smtClean="0">
                <a:latin typeface="Calibri" panose="020F0502020204030204" pitchFamily="34" charset="0"/>
                <a:cs typeface="Calibri" panose="020F0502020204030204" pitchFamily="34" charset="0"/>
              </a:rPr>
              <a:t>months </a:t>
            </a:r>
            <a:r>
              <a:rPr lang="en-US" sz="1100" dirty="0">
                <a:latin typeface="Calibri" panose="020F0502020204030204" pitchFamily="34" charset="0"/>
                <a:cs typeface="Calibri" panose="020F0502020204030204" pitchFamily="34" charset="0"/>
              </a:rPr>
              <a:t>will require major restocking of product and increased staffs</a:t>
            </a:r>
            <a:endParaRPr lang="en-US" sz="900" b="1" dirty="0" smtClean="0">
              <a:solidFill>
                <a:schemeClr val="accent3">
                  <a:lumMod val="75000"/>
                  <a:lumOff val="25000"/>
                </a:schemeClr>
              </a:solidFil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0" y="79452"/>
            <a:ext cx="9144000" cy="389594"/>
          </a:xfrm>
        </p:spPr>
        <p:txBody>
          <a:bodyPr/>
          <a:lstStyle/>
          <a:p>
            <a:pPr algn="l"/>
            <a:r>
              <a:rPr lang="en-US" sz="1050" b="0" dirty="0">
                <a:latin typeface="Calibri" panose="020F0502020204030204" pitchFamily="34" charset="0"/>
                <a:cs typeface="Calibri" panose="020F0502020204030204" pitchFamily="34" charset="0"/>
              </a:rPr>
              <a:t>Identify the months with the highest sales volume, aiding in planning for stock levels, marketing efforts, and staffing in anticipation of peak demand periods</a:t>
            </a:r>
            <a:r>
              <a:rPr lang="en-US" sz="1050" b="0" dirty="0" smtClean="0">
                <a:latin typeface="Calibri" panose="020F0502020204030204" pitchFamily="34" charset="0"/>
                <a:cs typeface="Calibri" panose="020F0502020204030204" pitchFamily="34" charset="0"/>
              </a:rPr>
              <a:t>. </a:t>
            </a:r>
            <a:br>
              <a:rPr lang="en-US" sz="1050" b="0" dirty="0" smtClean="0">
                <a:latin typeface="Calibri" panose="020F0502020204030204" pitchFamily="34" charset="0"/>
                <a:cs typeface="Calibri" panose="020F0502020204030204" pitchFamily="34" charset="0"/>
              </a:rPr>
            </a:br>
            <a:r>
              <a:rPr lang="en-IN" sz="1050" dirty="0" smtClean="0">
                <a:solidFill>
                  <a:schemeClr val="accent3">
                    <a:lumMod val="75000"/>
                    <a:lumOff val="25000"/>
                  </a:schemeClr>
                </a:solidFill>
                <a:latin typeface="Calibri" panose="020F0502020204030204" pitchFamily="34" charset="0"/>
                <a:cs typeface="Calibri" panose="020F0502020204030204" pitchFamily="34" charset="0"/>
              </a:rPr>
              <a:t>Peak </a:t>
            </a:r>
            <a:r>
              <a:rPr lang="en-IN" sz="1050" dirty="0">
                <a:solidFill>
                  <a:schemeClr val="accent3">
                    <a:lumMod val="75000"/>
                    <a:lumOff val="25000"/>
                  </a:schemeClr>
                </a:solidFill>
                <a:latin typeface="Calibri" panose="020F0502020204030204" pitchFamily="34" charset="0"/>
                <a:cs typeface="Calibri" panose="020F0502020204030204" pitchFamily="34" charset="0"/>
              </a:rPr>
              <a:t>Sales Period Identification </a:t>
            </a:r>
            <a:endParaRPr lang="en-IN" sz="1050" dirty="0">
              <a:solidFill>
                <a:schemeClr val="accent3">
                  <a:lumMod val="75000"/>
                  <a:lumOff val="25000"/>
                </a:schemeClr>
              </a:solidFill>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8901" y="382907"/>
            <a:ext cx="6200702" cy="4109579"/>
          </a:xfrm>
          <a:prstGeom prst="rect">
            <a:avLst/>
          </a:prstGeom>
        </p:spPr>
      </p:pic>
    </p:spTree>
    <p:extLst>
      <p:ext uri="{BB962C8B-B14F-4D97-AF65-F5344CB8AC3E}">
        <p14:creationId xmlns:p14="http://schemas.microsoft.com/office/powerpoint/2010/main" val="1732358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FK Electronics Company Profile by Slidesgo">
  <a:themeElements>
    <a:clrScheme name="Simple Light">
      <a:dk1>
        <a:srgbClr val="434343"/>
      </a:dk1>
      <a:lt1>
        <a:srgbClr val="808080"/>
      </a:lt1>
      <a:dk2>
        <a:srgbClr val="CACACA"/>
      </a:dk2>
      <a:lt2>
        <a:srgbClr val="FFFFFF"/>
      </a:lt2>
      <a:accent1>
        <a:srgbClr val="FF9A1B"/>
      </a:accent1>
      <a:accent2>
        <a:srgbClr val="C06C03"/>
      </a:accent2>
      <a:accent3>
        <a:srgbClr val="642700"/>
      </a:accent3>
      <a:accent4>
        <a:srgbClr val="F16603"/>
      </a:accent4>
      <a:accent5>
        <a:srgbClr val="808080"/>
      </a:accent5>
      <a:accent6>
        <a:srgbClr val="CACACA"/>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1997</Words>
  <Application>Microsoft Office PowerPoint</Application>
  <PresentationFormat>On-screen Show (16:9)</PresentationFormat>
  <Paragraphs>221</Paragraphs>
  <Slides>19</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Roboto Condensed Light</vt:lpstr>
      <vt:lpstr>Open Sans</vt:lpstr>
      <vt:lpstr>Lobster Two</vt:lpstr>
      <vt:lpstr>Livvic</vt:lpstr>
      <vt:lpstr>Arial</vt:lpstr>
      <vt:lpstr>Calibri</vt:lpstr>
      <vt:lpstr>Montserrat</vt:lpstr>
      <vt:lpstr>Raleway SemiBold</vt:lpstr>
      <vt:lpstr>Wingdings</vt:lpstr>
      <vt:lpstr>FK Electronics Company Profile by Slidesgo</vt:lpstr>
      <vt:lpstr>Turning Data into Decisions: E-Commerce Analytics Case Study</vt:lpstr>
      <vt:lpstr>Table Of Content </vt:lpstr>
      <vt:lpstr>Introduction</vt:lpstr>
      <vt:lpstr>Project Objective</vt:lpstr>
      <vt:lpstr>Dataset Description</vt:lpstr>
      <vt:lpstr>Entity Relationship Diagram</vt:lpstr>
      <vt:lpstr>Problem of Statement</vt:lpstr>
      <vt:lpstr>Query 1  </vt:lpstr>
      <vt:lpstr>Identify the top 3 cities with the highest number of customers to determine key markets for targeted marketing and logistic optimization.</vt:lpstr>
      <vt:lpstr>Determine the distribution of customers by the number of orders placed. This insight will help in segmenting customers into one-time buyers, occasional shoppers, and regular customers for tailored marketing strategies.</vt:lpstr>
      <vt:lpstr> Identify products where the average purchase quantity per order is 2 but with a high total revenue, suggesting premium product trends.</vt:lpstr>
      <vt:lpstr>For each product category, calculate the unique number of customers purchasing from it. This will help understand which categories have wider appeal across the customer base. Category-wise Customer Reach </vt:lpstr>
      <vt:lpstr>Analyze the month-on-month percentage change in total sales to identify growth trends. Sales Trend Analysis </vt:lpstr>
      <vt:lpstr>Analyze the month-on-month percentage change in total sales to identify growth trends. Sales Trend Analysis </vt:lpstr>
      <vt:lpstr>Examine how the average order value changes month-on-month. Insights can guide pricing and promotional strategies to enhance order value.</vt:lpstr>
      <vt:lpstr>Based on sales data, identify products with the fastest turnover rates, suggesting high demand and the need for frequent restocking.</vt:lpstr>
      <vt:lpstr>List products purchased by less than 40% of the customer base, indicating potential mismatches between inventory and customer interest  -  Low Engagement Products </vt:lpstr>
      <vt:lpstr>Evaluate the month-on-month growth rate in the customer base to understand the effectiveness of marketing campaigns and market expansion .  Customer Acquisition Trends </vt:lpstr>
      <vt:lpstr>Identify the months with the highest sales volume, aiding in planning for stock levels, marketing efforts, and staffing in anticipation of peak demand periods.  Peak Sales Period Identification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Data analysis presentation</dc:title>
  <cp:lastModifiedBy>Nidhi</cp:lastModifiedBy>
  <cp:revision>35</cp:revision>
  <dcterms:modified xsi:type="dcterms:W3CDTF">2025-12-29T07:30:24Z</dcterms:modified>
</cp:coreProperties>
</file>